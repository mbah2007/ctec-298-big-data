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98976B-77B5-CA4D-A749-52CF1B387C5B}" v="11" dt="2025-12-02T22:00:42.2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90"/>
    <p:restoredTop sz="94719"/>
  </p:normalViewPr>
  <p:slideViewPr>
    <p:cSldViewPr snapToGrid="0">
      <p:cViewPr varScale="1">
        <p:scale>
          <a:sx n="98" d="100"/>
          <a:sy n="98" d="100"/>
        </p:scale>
        <p:origin x="216" y="7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4B5C0-419C-F74A-337A-EFBA78C7C9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2BB8C2-C54E-11A4-67C4-53DBF1EB58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EA5184-5DD7-9B9A-579C-C9FB54B4FFE9}"/>
              </a:ext>
            </a:extLst>
          </p:cNvPr>
          <p:cNvSpPr>
            <a:spLocks noGrp="1"/>
          </p:cNvSpPr>
          <p:nvPr>
            <p:ph type="dt" sz="half" idx="10"/>
          </p:nvPr>
        </p:nvSpPr>
        <p:spPr/>
        <p:txBody>
          <a:bodyPr/>
          <a:lstStyle/>
          <a:p>
            <a:fld id="{68BCEFD1-8E03-2C48-B3B0-5233D3EFD445}" type="datetimeFigureOut">
              <a:rPr lang="en-US" smtClean="0"/>
              <a:t>12/2/25</a:t>
            </a:fld>
            <a:endParaRPr lang="en-US"/>
          </a:p>
        </p:txBody>
      </p:sp>
      <p:sp>
        <p:nvSpPr>
          <p:cNvPr id="5" name="Footer Placeholder 4">
            <a:extLst>
              <a:ext uri="{FF2B5EF4-FFF2-40B4-BE49-F238E27FC236}">
                <a16:creationId xmlns:a16="http://schemas.microsoft.com/office/drawing/2014/main" id="{2B5B0734-3C05-FD9E-7D0C-6E26F67C6C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17E886-CD4A-354C-71BE-962912AF696A}"/>
              </a:ext>
            </a:extLst>
          </p:cNvPr>
          <p:cNvSpPr>
            <a:spLocks noGrp="1"/>
          </p:cNvSpPr>
          <p:nvPr>
            <p:ph type="sldNum" sz="quarter" idx="12"/>
          </p:nvPr>
        </p:nvSpPr>
        <p:spPr/>
        <p:txBody>
          <a:bodyPr/>
          <a:lstStyle/>
          <a:p>
            <a:fld id="{E5BE8D5A-B7B6-474F-BD81-1E7BB8F28999}" type="slidenum">
              <a:rPr lang="en-US" smtClean="0"/>
              <a:t>‹#›</a:t>
            </a:fld>
            <a:endParaRPr lang="en-US"/>
          </a:p>
        </p:txBody>
      </p:sp>
    </p:spTree>
    <p:extLst>
      <p:ext uri="{BB962C8B-B14F-4D97-AF65-F5344CB8AC3E}">
        <p14:creationId xmlns:p14="http://schemas.microsoft.com/office/powerpoint/2010/main" val="412827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8FD6E-60FA-484A-AFE7-963A21910A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71135D-38EB-9FAC-91C7-AF710E92B9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10183E-FFB1-36FF-FB59-7E9679C50836}"/>
              </a:ext>
            </a:extLst>
          </p:cNvPr>
          <p:cNvSpPr>
            <a:spLocks noGrp="1"/>
          </p:cNvSpPr>
          <p:nvPr>
            <p:ph type="dt" sz="half" idx="10"/>
          </p:nvPr>
        </p:nvSpPr>
        <p:spPr/>
        <p:txBody>
          <a:bodyPr/>
          <a:lstStyle/>
          <a:p>
            <a:fld id="{68BCEFD1-8E03-2C48-B3B0-5233D3EFD445}" type="datetimeFigureOut">
              <a:rPr lang="en-US" smtClean="0"/>
              <a:t>12/2/25</a:t>
            </a:fld>
            <a:endParaRPr lang="en-US"/>
          </a:p>
        </p:txBody>
      </p:sp>
      <p:sp>
        <p:nvSpPr>
          <p:cNvPr id="5" name="Footer Placeholder 4">
            <a:extLst>
              <a:ext uri="{FF2B5EF4-FFF2-40B4-BE49-F238E27FC236}">
                <a16:creationId xmlns:a16="http://schemas.microsoft.com/office/drawing/2014/main" id="{673A4258-A4BD-E373-4D82-E26D03E5CE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79585B-97F8-21CE-D1E5-C52B9D465FD6}"/>
              </a:ext>
            </a:extLst>
          </p:cNvPr>
          <p:cNvSpPr>
            <a:spLocks noGrp="1"/>
          </p:cNvSpPr>
          <p:nvPr>
            <p:ph type="sldNum" sz="quarter" idx="12"/>
          </p:nvPr>
        </p:nvSpPr>
        <p:spPr/>
        <p:txBody>
          <a:bodyPr/>
          <a:lstStyle/>
          <a:p>
            <a:fld id="{E5BE8D5A-B7B6-474F-BD81-1E7BB8F28999}" type="slidenum">
              <a:rPr lang="en-US" smtClean="0"/>
              <a:t>‹#›</a:t>
            </a:fld>
            <a:endParaRPr lang="en-US"/>
          </a:p>
        </p:txBody>
      </p:sp>
    </p:spTree>
    <p:extLst>
      <p:ext uri="{BB962C8B-B14F-4D97-AF65-F5344CB8AC3E}">
        <p14:creationId xmlns:p14="http://schemas.microsoft.com/office/powerpoint/2010/main" val="990206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9A65A-91B1-0F50-6868-564B6C17AE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E09294-F6CD-81F8-D6BA-926DAA3231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72174A-F1FC-8FB4-1F5C-A76FDDD6C190}"/>
              </a:ext>
            </a:extLst>
          </p:cNvPr>
          <p:cNvSpPr>
            <a:spLocks noGrp="1"/>
          </p:cNvSpPr>
          <p:nvPr>
            <p:ph type="dt" sz="half" idx="10"/>
          </p:nvPr>
        </p:nvSpPr>
        <p:spPr/>
        <p:txBody>
          <a:bodyPr/>
          <a:lstStyle/>
          <a:p>
            <a:fld id="{68BCEFD1-8E03-2C48-B3B0-5233D3EFD445}" type="datetimeFigureOut">
              <a:rPr lang="en-US" smtClean="0"/>
              <a:t>12/2/25</a:t>
            </a:fld>
            <a:endParaRPr lang="en-US"/>
          </a:p>
        </p:txBody>
      </p:sp>
      <p:sp>
        <p:nvSpPr>
          <p:cNvPr id="5" name="Footer Placeholder 4">
            <a:extLst>
              <a:ext uri="{FF2B5EF4-FFF2-40B4-BE49-F238E27FC236}">
                <a16:creationId xmlns:a16="http://schemas.microsoft.com/office/drawing/2014/main" id="{A93E31B3-518E-EF38-F2D3-8946AF0E7E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A39375-3047-C1C7-4D04-E8D225FC5964}"/>
              </a:ext>
            </a:extLst>
          </p:cNvPr>
          <p:cNvSpPr>
            <a:spLocks noGrp="1"/>
          </p:cNvSpPr>
          <p:nvPr>
            <p:ph type="sldNum" sz="quarter" idx="12"/>
          </p:nvPr>
        </p:nvSpPr>
        <p:spPr/>
        <p:txBody>
          <a:bodyPr/>
          <a:lstStyle/>
          <a:p>
            <a:fld id="{E5BE8D5A-B7B6-474F-BD81-1E7BB8F28999}" type="slidenum">
              <a:rPr lang="en-US" smtClean="0"/>
              <a:t>‹#›</a:t>
            </a:fld>
            <a:endParaRPr lang="en-US"/>
          </a:p>
        </p:txBody>
      </p:sp>
    </p:spTree>
    <p:extLst>
      <p:ext uri="{BB962C8B-B14F-4D97-AF65-F5344CB8AC3E}">
        <p14:creationId xmlns:p14="http://schemas.microsoft.com/office/powerpoint/2010/main" val="2530203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DBEE9-EED1-A62D-3B7D-5452699F7C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EDF860-C28E-6A00-5910-76991EA6C4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98B5E92-FDA1-A031-5DE3-340097EDB9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243E57-EEEE-9D85-D1B8-7AC007052E77}"/>
              </a:ext>
            </a:extLst>
          </p:cNvPr>
          <p:cNvSpPr>
            <a:spLocks noGrp="1"/>
          </p:cNvSpPr>
          <p:nvPr>
            <p:ph type="dt" sz="half" idx="10"/>
          </p:nvPr>
        </p:nvSpPr>
        <p:spPr/>
        <p:txBody>
          <a:bodyPr/>
          <a:lstStyle/>
          <a:p>
            <a:fld id="{68BCEFD1-8E03-2C48-B3B0-5233D3EFD445}" type="datetimeFigureOut">
              <a:rPr lang="en-US" smtClean="0"/>
              <a:t>12/2/25</a:t>
            </a:fld>
            <a:endParaRPr lang="en-US"/>
          </a:p>
        </p:txBody>
      </p:sp>
      <p:sp>
        <p:nvSpPr>
          <p:cNvPr id="6" name="Footer Placeholder 5">
            <a:extLst>
              <a:ext uri="{FF2B5EF4-FFF2-40B4-BE49-F238E27FC236}">
                <a16:creationId xmlns:a16="http://schemas.microsoft.com/office/drawing/2014/main" id="{3698DF9A-FEC2-54CB-7EC4-1E1E90E40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8F139E-D506-C7F7-D807-4BAD2C135C93}"/>
              </a:ext>
            </a:extLst>
          </p:cNvPr>
          <p:cNvSpPr>
            <a:spLocks noGrp="1"/>
          </p:cNvSpPr>
          <p:nvPr>
            <p:ph type="sldNum" sz="quarter" idx="12"/>
          </p:nvPr>
        </p:nvSpPr>
        <p:spPr/>
        <p:txBody>
          <a:bodyPr/>
          <a:lstStyle/>
          <a:p>
            <a:fld id="{E5BE8D5A-B7B6-474F-BD81-1E7BB8F28999}" type="slidenum">
              <a:rPr lang="en-US" smtClean="0"/>
              <a:t>‹#›</a:t>
            </a:fld>
            <a:endParaRPr lang="en-US"/>
          </a:p>
        </p:txBody>
      </p:sp>
    </p:spTree>
    <p:extLst>
      <p:ext uri="{BB962C8B-B14F-4D97-AF65-F5344CB8AC3E}">
        <p14:creationId xmlns:p14="http://schemas.microsoft.com/office/powerpoint/2010/main" val="379296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7613D-A881-6B57-C22F-0387E1F449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03361B-4D04-9C6B-2531-B639D904D9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7038A3-3836-4D58-AA55-5537162DAC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F03BDB-1AEB-62A1-D686-C910D6179C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EE24F6-CC7E-C907-7A15-92AF81487A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911D58-000E-D99C-4895-C3532B7B9A96}"/>
              </a:ext>
            </a:extLst>
          </p:cNvPr>
          <p:cNvSpPr>
            <a:spLocks noGrp="1"/>
          </p:cNvSpPr>
          <p:nvPr>
            <p:ph type="dt" sz="half" idx="10"/>
          </p:nvPr>
        </p:nvSpPr>
        <p:spPr/>
        <p:txBody>
          <a:bodyPr/>
          <a:lstStyle/>
          <a:p>
            <a:fld id="{68BCEFD1-8E03-2C48-B3B0-5233D3EFD445}" type="datetimeFigureOut">
              <a:rPr lang="en-US" smtClean="0"/>
              <a:t>12/2/25</a:t>
            </a:fld>
            <a:endParaRPr lang="en-US"/>
          </a:p>
        </p:txBody>
      </p:sp>
      <p:sp>
        <p:nvSpPr>
          <p:cNvPr id="8" name="Footer Placeholder 7">
            <a:extLst>
              <a:ext uri="{FF2B5EF4-FFF2-40B4-BE49-F238E27FC236}">
                <a16:creationId xmlns:a16="http://schemas.microsoft.com/office/drawing/2014/main" id="{1ACCBC3B-56BF-74CF-B23E-C5918657A8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87A359-1C3B-0E8F-C3C4-BD669C025EB1}"/>
              </a:ext>
            </a:extLst>
          </p:cNvPr>
          <p:cNvSpPr>
            <a:spLocks noGrp="1"/>
          </p:cNvSpPr>
          <p:nvPr>
            <p:ph type="sldNum" sz="quarter" idx="12"/>
          </p:nvPr>
        </p:nvSpPr>
        <p:spPr/>
        <p:txBody>
          <a:bodyPr/>
          <a:lstStyle/>
          <a:p>
            <a:fld id="{E5BE8D5A-B7B6-474F-BD81-1E7BB8F28999}" type="slidenum">
              <a:rPr lang="en-US" smtClean="0"/>
              <a:t>‹#›</a:t>
            </a:fld>
            <a:endParaRPr lang="en-US"/>
          </a:p>
        </p:txBody>
      </p:sp>
    </p:spTree>
    <p:extLst>
      <p:ext uri="{BB962C8B-B14F-4D97-AF65-F5344CB8AC3E}">
        <p14:creationId xmlns:p14="http://schemas.microsoft.com/office/powerpoint/2010/main" val="3515566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B6A50-3973-615B-5A66-AA22535A75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7B2830-DEFA-91AB-D541-5AD3F9360A4E}"/>
              </a:ext>
            </a:extLst>
          </p:cNvPr>
          <p:cNvSpPr>
            <a:spLocks noGrp="1"/>
          </p:cNvSpPr>
          <p:nvPr>
            <p:ph type="dt" sz="half" idx="10"/>
          </p:nvPr>
        </p:nvSpPr>
        <p:spPr/>
        <p:txBody>
          <a:bodyPr/>
          <a:lstStyle/>
          <a:p>
            <a:fld id="{68BCEFD1-8E03-2C48-B3B0-5233D3EFD445}" type="datetimeFigureOut">
              <a:rPr lang="en-US" smtClean="0"/>
              <a:t>12/2/25</a:t>
            </a:fld>
            <a:endParaRPr lang="en-US"/>
          </a:p>
        </p:txBody>
      </p:sp>
      <p:sp>
        <p:nvSpPr>
          <p:cNvPr id="4" name="Footer Placeholder 3">
            <a:extLst>
              <a:ext uri="{FF2B5EF4-FFF2-40B4-BE49-F238E27FC236}">
                <a16:creationId xmlns:a16="http://schemas.microsoft.com/office/drawing/2014/main" id="{63477649-3B38-E2DA-1BD9-641693E8A1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7043A0-8A2B-26DB-A21A-E962B335B34C}"/>
              </a:ext>
            </a:extLst>
          </p:cNvPr>
          <p:cNvSpPr>
            <a:spLocks noGrp="1"/>
          </p:cNvSpPr>
          <p:nvPr>
            <p:ph type="sldNum" sz="quarter" idx="12"/>
          </p:nvPr>
        </p:nvSpPr>
        <p:spPr/>
        <p:txBody>
          <a:bodyPr/>
          <a:lstStyle/>
          <a:p>
            <a:fld id="{E5BE8D5A-B7B6-474F-BD81-1E7BB8F28999}" type="slidenum">
              <a:rPr lang="en-US" smtClean="0"/>
              <a:t>‹#›</a:t>
            </a:fld>
            <a:endParaRPr lang="en-US"/>
          </a:p>
        </p:txBody>
      </p:sp>
    </p:spTree>
    <p:extLst>
      <p:ext uri="{BB962C8B-B14F-4D97-AF65-F5344CB8AC3E}">
        <p14:creationId xmlns:p14="http://schemas.microsoft.com/office/powerpoint/2010/main" val="2486562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42BE04-6FF9-91FB-75E1-18EA683DA656}"/>
              </a:ext>
            </a:extLst>
          </p:cNvPr>
          <p:cNvSpPr>
            <a:spLocks noGrp="1"/>
          </p:cNvSpPr>
          <p:nvPr>
            <p:ph type="dt" sz="half" idx="10"/>
          </p:nvPr>
        </p:nvSpPr>
        <p:spPr/>
        <p:txBody>
          <a:bodyPr/>
          <a:lstStyle/>
          <a:p>
            <a:fld id="{68BCEFD1-8E03-2C48-B3B0-5233D3EFD445}" type="datetimeFigureOut">
              <a:rPr lang="en-US" smtClean="0"/>
              <a:t>12/2/25</a:t>
            </a:fld>
            <a:endParaRPr lang="en-US"/>
          </a:p>
        </p:txBody>
      </p:sp>
      <p:sp>
        <p:nvSpPr>
          <p:cNvPr id="3" name="Footer Placeholder 2">
            <a:extLst>
              <a:ext uri="{FF2B5EF4-FFF2-40B4-BE49-F238E27FC236}">
                <a16:creationId xmlns:a16="http://schemas.microsoft.com/office/drawing/2014/main" id="{972EF142-6DFB-6F1B-C373-A6F9F2C7D0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AFB2F2-2734-5113-13EC-103677ED9B2E}"/>
              </a:ext>
            </a:extLst>
          </p:cNvPr>
          <p:cNvSpPr>
            <a:spLocks noGrp="1"/>
          </p:cNvSpPr>
          <p:nvPr>
            <p:ph type="sldNum" sz="quarter" idx="12"/>
          </p:nvPr>
        </p:nvSpPr>
        <p:spPr/>
        <p:txBody>
          <a:bodyPr/>
          <a:lstStyle/>
          <a:p>
            <a:fld id="{E5BE8D5A-B7B6-474F-BD81-1E7BB8F28999}" type="slidenum">
              <a:rPr lang="en-US" smtClean="0"/>
              <a:t>‹#›</a:t>
            </a:fld>
            <a:endParaRPr lang="en-US"/>
          </a:p>
        </p:txBody>
      </p:sp>
    </p:spTree>
    <p:extLst>
      <p:ext uri="{BB962C8B-B14F-4D97-AF65-F5344CB8AC3E}">
        <p14:creationId xmlns:p14="http://schemas.microsoft.com/office/powerpoint/2010/main" val="2474559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53A2-F2E4-816F-E6D4-D5CF13B392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8719B1-BCB8-9426-BF2B-2B21BD7795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05B9D7-BAB3-952B-CB5F-D3FE5B1980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2E0AA3-7962-E48E-28AA-CD87EDFAF2D0}"/>
              </a:ext>
            </a:extLst>
          </p:cNvPr>
          <p:cNvSpPr>
            <a:spLocks noGrp="1"/>
          </p:cNvSpPr>
          <p:nvPr>
            <p:ph type="dt" sz="half" idx="10"/>
          </p:nvPr>
        </p:nvSpPr>
        <p:spPr/>
        <p:txBody>
          <a:bodyPr/>
          <a:lstStyle/>
          <a:p>
            <a:fld id="{68BCEFD1-8E03-2C48-B3B0-5233D3EFD445}" type="datetimeFigureOut">
              <a:rPr lang="en-US" smtClean="0"/>
              <a:t>12/2/25</a:t>
            </a:fld>
            <a:endParaRPr lang="en-US"/>
          </a:p>
        </p:txBody>
      </p:sp>
      <p:sp>
        <p:nvSpPr>
          <p:cNvPr id="6" name="Footer Placeholder 5">
            <a:extLst>
              <a:ext uri="{FF2B5EF4-FFF2-40B4-BE49-F238E27FC236}">
                <a16:creationId xmlns:a16="http://schemas.microsoft.com/office/drawing/2014/main" id="{CE576311-D2D2-0E3E-18A6-20C72355D3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279B15-E48D-8298-1365-C3901E510EA4}"/>
              </a:ext>
            </a:extLst>
          </p:cNvPr>
          <p:cNvSpPr>
            <a:spLocks noGrp="1"/>
          </p:cNvSpPr>
          <p:nvPr>
            <p:ph type="sldNum" sz="quarter" idx="12"/>
          </p:nvPr>
        </p:nvSpPr>
        <p:spPr/>
        <p:txBody>
          <a:bodyPr/>
          <a:lstStyle/>
          <a:p>
            <a:fld id="{E5BE8D5A-B7B6-474F-BD81-1E7BB8F28999}" type="slidenum">
              <a:rPr lang="en-US" smtClean="0"/>
              <a:t>‹#›</a:t>
            </a:fld>
            <a:endParaRPr lang="en-US"/>
          </a:p>
        </p:txBody>
      </p:sp>
    </p:spTree>
    <p:extLst>
      <p:ext uri="{BB962C8B-B14F-4D97-AF65-F5344CB8AC3E}">
        <p14:creationId xmlns:p14="http://schemas.microsoft.com/office/powerpoint/2010/main" val="3929938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F11D1-A436-79C0-EE49-8D125074C9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5132E1-5820-9F00-8FB5-E79557866E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E8E7AA-FC5E-B5F8-C8BB-524ED5073B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9C1A92-6638-229E-6E7F-B5AE85B26439}"/>
              </a:ext>
            </a:extLst>
          </p:cNvPr>
          <p:cNvSpPr>
            <a:spLocks noGrp="1"/>
          </p:cNvSpPr>
          <p:nvPr>
            <p:ph type="dt" sz="half" idx="10"/>
          </p:nvPr>
        </p:nvSpPr>
        <p:spPr/>
        <p:txBody>
          <a:bodyPr/>
          <a:lstStyle/>
          <a:p>
            <a:fld id="{68BCEFD1-8E03-2C48-B3B0-5233D3EFD445}" type="datetimeFigureOut">
              <a:rPr lang="en-US" smtClean="0"/>
              <a:t>12/2/25</a:t>
            </a:fld>
            <a:endParaRPr lang="en-US"/>
          </a:p>
        </p:txBody>
      </p:sp>
      <p:sp>
        <p:nvSpPr>
          <p:cNvPr id="6" name="Footer Placeholder 5">
            <a:extLst>
              <a:ext uri="{FF2B5EF4-FFF2-40B4-BE49-F238E27FC236}">
                <a16:creationId xmlns:a16="http://schemas.microsoft.com/office/drawing/2014/main" id="{12EACD94-4D48-1730-3777-887E59DEC0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837B9A-857F-3512-A0BA-DC7B5C4AC037}"/>
              </a:ext>
            </a:extLst>
          </p:cNvPr>
          <p:cNvSpPr>
            <a:spLocks noGrp="1"/>
          </p:cNvSpPr>
          <p:nvPr>
            <p:ph type="sldNum" sz="quarter" idx="12"/>
          </p:nvPr>
        </p:nvSpPr>
        <p:spPr/>
        <p:txBody>
          <a:bodyPr/>
          <a:lstStyle/>
          <a:p>
            <a:fld id="{E5BE8D5A-B7B6-474F-BD81-1E7BB8F28999}" type="slidenum">
              <a:rPr lang="en-US" smtClean="0"/>
              <a:t>‹#›</a:t>
            </a:fld>
            <a:endParaRPr lang="en-US"/>
          </a:p>
        </p:txBody>
      </p:sp>
    </p:spTree>
    <p:extLst>
      <p:ext uri="{BB962C8B-B14F-4D97-AF65-F5344CB8AC3E}">
        <p14:creationId xmlns:p14="http://schemas.microsoft.com/office/powerpoint/2010/main" val="1817550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417DB-CA9D-8C60-1302-229B97AD3A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10862B-5440-A6F1-81E5-A1A128430C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BFBE06-11BE-0342-A067-9A36C595ED19}"/>
              </a:ext>
            </a:extLst>
          </p:cNvPr>
          <p:cNvSpPr>
            <a:spLocks noGrp="1"/>
          </p:cNvSpPr>
          <p:nvPr>
            <p:ph type="dt" sz="half" idx="10"/>
          </p:nvPr>
        </p:nvSpPr>
        <p:spPr/>
        <p:txBody>
          <a:bodyPr/>
          <a:lstStyle/>
          <a:p>
            <a:fld id="{68BCEFD1-8E03-2C48-B3B0-5233D3EFD445}" type="datetimeFigureOut">
              <a:rPr lang="en-US" smtClean="0"/>
              <a:t>12/2/25</a:t>
            </a:fld>
            <a:endParaRPr lang="en-US"/>
          </a:p>
        </p:txBody>
      </p:sp>
      <p:sp>
        <p:nvSpPr>
          <p:cNvPr id="5" name="Footer Placeholder 4">
            <a:extLst>
              <a:ext uri="{FF2B5EF4-FFF2-40B4-BE49-F238E27FC236}">
                <a16:creationId xmlns:a16="http://schemas.microsoft.com/office/drawing/2014/main" id="{9C36E60E-045D-9FD8-9725-648BB57662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1227AB-88EA-B0EC-8E62-13BC11B4D8B5}"/>
              </a:ext>
            </a:extLst>
          </p:cNvPr>
          <p:cNvSpPr>
            <a:spLocks noGrp="1"/>
          </p:cNvSpPr>
          <p:nvPr>
            <p:ph type="sldNum" sz="quarter" idx="12"/>
          </p:nvPr>
        </p:nvSpPr>
        <p:spPr/>
        <p:txBody>
          <a:bodyPr/>
          <a:lstStyle/>
          <a:p>
            <a:fld id="{E5BE8D5A-B7B6-474F-BD81-1E7BB8F28999}" type="slidenum">
              <a:rPr lang="en-US" smtClean="0"/>
              <a:t>‹#›</a:t>
            </a:fld>
            <a:endParaRPr lang="en-US"/>
          </a:p>
        </p:txBody>
      </p:sp>
    </p:spTree>
    <p:extLst>
      <p:ext uri="{BB962C8B-B14F-4D97-AF65-F5344CB8AC3E}">
        <p14:creationId xmlns:p14="http://schemas.microsoft.com/office/powerpoint/2010/main" val="3258555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4BC529-E1E0-B9C0-C63C-2EFF368813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C701FF-451C-C83D-FB3A-3BB34EC395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C3CC18-EF0B-86AD-6BB8-B6F3242DFCDB}"/>
              </a:ext>
            </a:extLst>
          </p:cNvPr>
          <p:cNvSpPr>
            <a:spLocks noGrp="1"/>
          </p:cNvSpPr>
          <p:nvPr>
            <p:ph type="dt" sz="half" idx="10"/>
          </p:nvPr>
        </p:nvSpPr>
        <p:spPr/>
        <p:txBody>
          <a:bodyPr/>
          <a:lstStyle/>
          <a:p>
            <a:fld id="{68BCEFD1-8E03-2C48-B3B0-5233D3EFD445}" type="datetimeFigureOut">
              <a:rPr lang="en-US" smtClean="0"/>
              <a:t>12/2/25</a:t>
            </a:fld>
            <a:endParaRPr lang="en-US"/>
          </a:p>
        </p:txBody>
      </p:sp>
      <p:sp>
        <p:nvSpPr>
          <p:cNvPr id="5" name="Footer Placeholder 4">
            <a:extLst>
              <a:ext uri="{FF2B5EF4-FFF2-40B4-BE49-F238E27FC236}">
                <a16:creationId xmlns:a16="http://schemas.microsoft.com/office/drawing/2014/main" id="{B25114CF-EBAD-4351-FD89-2C3506905F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B31C6C-1E08-AD41-7B48-2ECE6FCA89F5}"/>
              </a:ext>
            </a:extLst>
          </p:cNvPr>
          <p:cNvSpPr>
            <a:spLocks noGrp="1"/>
          </p:cNvSpPr>
          <p:nvPr>
            <p:ph type="sldNum" sz="quarter" idx="12"/>
          </p:nvPr>
        </p:nvSpPr>
        <p:spPr/>
        <p:txBody>
          <a:bodyPr/>
          <a:lstStyle/>
          <a:p>
            <a:fld id="{E5BE8D5A-B7B6-474F-BD81-1E7BB8F28999}" type="slidenum">
              <a:rPr lang="en-US" smtClean="0"/>
              <a:t>‹#›</a:t>
            </a:fld>
            <a:endParaRPr lang="en-US"/>
          </a:p>
        </p:txBody>
      </p:sp>
    </p:spTree>
    <p:extLst>
      <p:ext uri="{BB962C8B-B14F-4D97-AF65-F5344CB8AC3E}">
        <p14:creationId xmlns:p14="http://schemas.microsoft.com/office/powerpoint/2010/main" val="4067054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DE98A7-E9FB-0742-4303-ABE17D5C21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F9F697-16BF-D460-646D-41332B6F73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330176-69A4-3215-24C8-98C20C766C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BCEFD1-8E03-2C48-B3B0-5233D3EFD445}" type="datetimeFigureOut">
              <a:rPr lang="en-US" smtClean="0"/>
              <a:t>12/2/25</a:t>
            </a:fld>
            <a:endParaRPr lang="en-US"/>
          </a:p>
        </p:txBody>
      </p:sp>
      <p:sp>
        <p:nvSpPr>
          <p:cNvPr id="5" name="Footer Placeholder 4">
            <a:extLst>
              <a:ext uri="{FF2B5EF4-FFF2-40B4-BE49-F238E27FC236}">
                <a16:creationId xmlns:a16="http://schemas.microsoft.com/office/drawing/2014/main" id="{D240302A-5FA0-4F3A-4205-4DCE0F0E28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6D8B70-B575-5EC0-37EA-914875A617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BE8D5A-B7B6-474F-BD81-1E7BB8F28999}" type="slidenum">
              <a:rPr lang="en-US" smtClean="0"/>
              <a:t>‹#›</a:t>
            </a:fld>
            <a:endParaRPr lang="en-US"/>
          </a:p>
        </p:txBody>
      </p:sp>
    </p:spTree>
    <p:extLst>
      <p:ext uri="{BB962C8B-B14F-4D97-AF65-F5344CB8AC3E}">
        <p14:creationId xmlns:p14="http://schemas.microsoft.com/office/powerpoint/2010/main" val="2918612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F91F54-A985-9CB7-E26D-6AF99BA4229B}"/>
              </a:ext>
            </a:extLst>
          </p:cNvPr>
          <p:cNvSpPr>
            <a:spLocks noGrp="1"/>
          </p:cNvSpPr>
          <p:nvPr>
            <p:ph type="ctrTitle"/>
          </p:nvPr>
        </p:nvSpPr>
        <p:spPr>
          <a:xfrm>
            <a:off x="841248" y="548640"/>
            <a:ext cx="3600860" cy="5431536"/>
          </a:xfrm>
        </p:spPr>
        <p:txBody>
          <a:bodyPr vert="horz" lIns="91440" tIns="45720" rIns="91440" bIns="45720" rtlCol="0" anchor="ctr">
            <a:normAutofit/>
          </a:bodyPr>
          <a:lstStyle/>
          <a:p>
            <a:pPr algn="l"/>
            <a:r>
              <a:rPr lang="en-US" sz="5400" kern="1200" dirty="0">
                <a:solidFill>
                  <a:schemeClr val="tx1"/>
                </a:solidFill>
                <a:latin typeface="+mj-lt"/>
                <a:ea typeface="+mj-ea"/>
                <a:cs typeface="+mj-cs"/>
              </a:rPr>
              <a:t>Becoming </a:t>
            </a:r>
            <a:br>
              <a:rPr lang="en-US" sz="5400" kern="1200" dirty="0">
                <a:solidFill>
                  <a:schemeClr val="tx1"/>
                </a:solidFill>
                <a:latin typeface="+mj-lt"/>
                <a:ea typeface="+mj-ea"/>
                <a:cs typeface="+mj-cs"/>
              </a:rPr>
            </a:br>
            <a:r>
              <a:rPr lang="en-US" sz="5400" kern="1200" dirty="0">
                <a:solidFill>
                  <a:schemeClr val="tx1"/>
                </a:solidFill>
                <a:latin typeface="+mj-lt"/>
                <a:ea typeface="+mj-ea"/>
                <a:cs typeface="+mj-cs"/>
              </a:rPr>
              <a:t>a Data Scientist</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675A8F2-0B91-7B4A-4A6D-407E6217B47E}"/>
              </a:ext>
            </a:extLst>
          </p:cNvPr>
          <p:cNvSpPr>
            <a:spLocks noGrp="1"/>
          </p:cNvSpPr>
          <p:nvPr>
            <p:ph type="subTitle" idx="1"/>
          </p:nvPr>
        </p:nvSpPr>
        <p:spPr>
          <a:xfrm>
            <a:off x="5126418" y="552091"/>
            <a:ext cx="6224335" cy="5431536"/>
          </a:xfrm>
        </p:spPr>
        <p:txBody>
          <a:bodyPr vert="horz" lIns="91440" tIns="45720" rIns="91440" bIns="45720" rtlCol="0" anchor="ctr">
            <a:normAutofit/>
          </a:bodyPr>
          <a:lstStyle/>
          <a:p>
            <a:pPr indent="-228600" algn="l">
              <a:buFont typeface="Arial" panose="020B0604020202020204" pitchFamily="34" charset="0"/>
              <a:buChar char="•"/>
            </a:pPr>
            <a:r>
              <a:rPr lang="en-US" sz="2200" dirty="0"/>
              <a:t>Mamadu Bah</a:t>
            </a:r>
          </a:p>
          <a:p>
            <a:pPr indent="-228600" algn="l">
              <a:buFont typeface="Arial" panose="020B0604020202020204" pitchFamily="34" charset="0"/>
              <a:buChar char="•"/>
            </a:pPr>
            <a:r>
              <a:rPr lang="en-US" sz="2200" dirty="0"/>
              <a:t>Prince Appiah</a:t>
            </a:r>
          </a:p>
          <a:p>
            <a:pPr indent="-228600" algn="l">
              <a:buFont typeface="Arial" panose="020B0604020202020204" pitchFamily="34" charset="0"/>
              <a:buChar char="•"/>
            </a:pPr>
            <a:r>
              <a:rPr lang="en-US" sz="2200" dirty="0"/>
              <a:t>Dr. </a:t>
            </a:r>
            <a:r>
              <a:rPr lang="en-US" sz="2200" dirty="0" err="1"/>
              <a:t>Bemley</a:t>
            </a:r>
            <a:endParaRPr lang="en-US" sz="2200" dirty="0"/>
          </a:p>
          <a:p>
            <a:pPr indent="-228600" algn="l">
              <a:buFont typeface="Arial" panose="020B0604020202020204" pitchFamily="34" charset="0"/>
              <a:buChar char="•"/>
            </a:pPr>
            <a:r>
              <a:rPr lang="en-US" sz="2200" dirty="0"/>
              <a:t>CTEC 298</a:t>
            </a:r>
          </a:p>
          <a:p>
            <a:pPr indent="-228600" algn="l">
              <a:buFont typeface="Arial" panose="020B0604020202020204" pitchFamily="34" charset="0"/>
              <a:buChar char="•"/>
            </a:pPr>
            <a:r>
              <a:rPr lang="en-US" sz="2200" dirty="0"/>
              <a:t>12/2/2025</a:t>
            </a:r>
          </a:p>
        </p:txBody>
      </p:sp>
    </p:spTree>
    <p:extLst>
      <p:ext uri="{BB962C8B-B14F-4D97-AF65-F5344CB8AC3E}">
        <p14:creationId xmlns:p14="http://schemas.microsoft.com/office/powerpoint/2010/main" val="1026499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BC17D6-8328-6DD6-EDBB-4BF978BB2CAB}"/>
              </a:ext>
            </a:extLst>
          </p:cNvPr>
          <p:cNvSpPr>
            <a:spLocks noGrp="1"/>
          </p:cNvSpPr>
          <p:nvPr>
            <p:ph type="title"/>
          </p:nvPr>
        </p:nvSpPr>
        <p:spPr>
          <a:xfrm>
            <a:off x="630936" y="640080"/>
            <a:ext cx="4818888" cy="1481328"/>
          </a:xfrm>
        </p:spPr>
        <p:txBody>
          <a:bodyPr anchor="b">
            <a:normAutofit/>
          </a:bodyPr>
          <a:lstStyle/>
          <a:p>
            <a:r>
              <a:rPr lang="en-US" sz="5400"/>
              <a:t>Introduction</a:t>
            </a:r>
          </a:p>
        </p:txBody>
      </p:sp>
      <p:sp>
        <p:nvSpPr>
          <p:cNvPr id="1040"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54373F-3BC2-0099-0115-63BA14993BA0}"/>
              </a:ext>
            </a:extLst>
          </p:cNvPr>
          <p:cNvSpPr>
            <a:spLocks noGrp="1"/>
          </p:cNvSpPr>
          <p:nvPr>
            <p:ph idx="1"/>
          </p:nvPr>
        </p:nvSpPr>
        <p:spPr>
          <a:xfrm>
            <a:off x="630936" y="2660904"/>
            <a:ext cx="4818888" cy="3547872"/>
          </a:xfrm>
        </p:spPr>
        <p:txBody>
          <a:bodyPr anchor="t">
            <a:normAutofit/>
          </a:bodyPr>
          <a:lstStyle/>
          <a:p>
            <a:pPr marL="0" indent="0">
              <a:buNone/>
            </a:pPr>
            <a:r>
              <a:rPr lang="en-US" sz="2200"/>
              <a:t>This semester, we focused on using Python to clean, analyze, and visualize real-world data. We worked on important topics such as healthcare inequality and fairness within sports. Our goal was to improve our technical skills while learning how to communicate results clearly and professionally.</a:t>
            </a:r>
          </a:p>
        </p:txBody>
      </p:sp>
      <p:pic>
        <p:nvPicPr>
          <p:cNvPr id="1026" name="Picture 2" descr="Python (programming language) - Wikipedia">
            <a:extLst>
              <a:ext uri="{FF2B5EF4-FFF2-40B4-BE49-F238E27FC236}">
                <a16:creationId xmlns:a16="http://schemas.microsoft.com/office/drawing/2014/main" id="{30026C99-F9CB-2947-8996-E6184B5979E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9048" y="699516"/>
            <a:ext cx="5458968" cy="5458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9048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6" name="Rectangle 206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55147D-EA1C-0E9F-0957-3639BEE04BB3}"/>
              </a:ext>
            </a:extLst>
          </p:cNvPr>
          <p:cNvSpPr>
            <a:spLocks noGrp="1"/>
          </p:cNvSpPr>
          <p:nvPr>
            <p:ph type="title"/>
          </p:nvPr>
        </p:nvSpPr>
        <p:spPr>
          <a:xfrm>
            <a:off x="630936" y="640080"/>
            <a:ext cx="4818888" cy="1481328"/>
          </a:xfrm>
        </p:spPr>
        <p:txBody>
          <a:bodyPr anchor="b">
            <a:normAutofit/>
          </a:bodyPr>
          <a:lstStyle/>
          <a:p>
            <a:r>
              <a:rPr lang="en-US" sz="5000"/>
              <a:t>CTEC 128 - Mamadu</a:t>
            </a:r>
          </a:p>
        </p:txBody>
      </p:sp>
      <p:sp>
        <p:nvSpPr>
          <p:cNvPr id="2068"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237E7EF-A423-3C84-1A96-8A7C233CB9E8}"/>
              </a:ext>
            </a:extLst>
          </p:cNvPr>
          <p:cNvSpPr>
            <a:spLocks noGrp="1"/>
          </p:cNvSpPr>
          <p:nvPr>
            <p:ph idx="1"/>
          </p:nvPr>
        </p:nvSpPr>
        <p:spPr>
          <a:xfrm>
            <a:off x="630936" y="2660904"/>
            <a:ext cx="4818888" cy="3547872"/>
          </a:xfrm>
        </p:spPr>
        <p:txBody>
          <a:bodyPr anchor="t">
            <a:normAutofit/>
          </a:bodyPr>
          <a:lstStyle/>
          <a:p>
            <a:pPr marL="0" indent="0">
              <a:buNone/>
            </a:pPr>
            <a:r>
              <a:rPr lang="en-US" sz="1700"/>
              <a:t>Analyzed maternal mortality rates in the U.S.</a:t>
            </a:r>
            <a:br>
              <a:rPr lang="en-US" sz="1700"/>
            </a:br>
            <a:r>
              <a:rPr lang="en-US" sz="1700"/>
              <a:t>Compared outcomes for Black, White, and Asian women</a:t>
            </a:r>
          </a:p>
          <a:p>
            <a:pPr marL="0" indent="0">
              <a:buNone/>
            </a:pPr>
            <a:br>
              <a:rPr lang="en-US" sz="1700"/>
            </a:br>
            <a:r>
              <a:rPr lang="en-US" sz="1700"/>
              <a:t>Cleaned and organized CDC-based dataset using Python</a:t>
            </a:r>
          </a:p>
          <a:p>
            <a:pPr marL="0" indent="0">
              <a:buNone/>
            </a:pPr>
            <a:br>
              <a:rPr lang="en-US" sz="1700"/>
            </a:br>
            <a:r>
              <a:rPr lang="en-US" sz="1700"/>
              <a:t>Revealed that Black women have the highest mortality risk in childbirth</a:t>
            </a:r>
          </a:p>
          <a:p>
            <a:pPr marL="0" indent="0">
              <a:buNone/>
            </a:pPr>
            <a:br>
              <a:rPr lang="en-US" sz="1700"/>
            </a:br>
            <a:r>
              <a:rPr lang="en-US" sz="1700"/>
              <a:t>Used data to support conversations about healthcare justice</a:t>
            </a:r>
          </a:p>
        </p:txBody>
      </p:sp>
      <p:pic>
        <p:nvPicPr>
          <p:cNvPr id="2050" name="Picture 2" descr="pregnancy-related mortality rates ...">
            <a:extLst>
              <a:ext uri="{FF2B5EF4-FFF2-40B4-BE49-F238E27FC236}">
                <a16:creationId xmlns:a16="http://schemas.microsoft.com/office/drawing/2014/main" id="{0BCEFBEB-36F9-8598-D6CA-A09E28F802D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9048" y="699516"/>
            <a:ext cx="5458968" cy="5458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4275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Rectangle 308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B2779D-1748-916D-86F9-530D1D8D5AF2}"/>
              </a:ext>
            </a:extLst>
          </p:cNvPr>
          <p:cNvSpPr>
            <a:spLocks noGrp="1"/>
          </p:cNvSpPr>
          <p:nvPr>
            <p:ph type="title"/>
          </p:nvPr>
        </p:nvSpPr>
        <p:spPr>
          <a:xfrm>
            <a:off x="630936" y="640080"/>
            <a:ext cx="4818888" cy="1481328"/>
          </a:xfrm>
        </p:spPr>
        <p:txBody>
          <a:bodyPr anchor="b">
            <a:normAutofit/>
          </a:bodyPr>
          <a:lstStyle/>
          <a:p>
            <a:r>
              <a:rPr lang="en-US" sz="5000"/>
              <a:t>CTEC 128 - Prince</a:t>
            </a:r>
          </a:p>
        </p:txBody>
      </p:sp>
      <p:sp>
        <p:nvSpPr>
          <p:cNvPr id="3088"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2DEB958-FB01-0E24-D53A-2B2F5071E546}"/>
              </a:ext>
            </a:extLst>
          </p:cNvPr>
          <p:cNvSpPr>
            <a:spLocks noGrp="1"/>
          </p:cNvSpPr>
          <p:nvPr>
            <p:ph idx="1"/>
          </p:nvPr>
        </p:nvSpPr>
        <p:spPr>
          <a:xfrm>
            <a:off x="630936" y="2660904"/>
            <a:ext cx="4818888" cy="3547872"/>
          </a:xfrm>
        </p:spPr>
        <p:txBody>
          <a:bodyPr anchor="t">
            <a:normAutofit/>
          </a:bodyPr>
          <a:lstStyle/>
          <a:p>
            <a:pPr marL="0" indent="0">
              <a:buNone/>
            </a:pPr>
            <a:r>
              <a:rPr lang="en-US" sz="1700"/>
              <a:t>Studied which athletes are more likely to be drafted into the NFL</a:t>
            </a:r>
          </a:p>
          <a:p>
            <a:pPr marL="0" indent="0">
              <a:buNone/>
            </a:pPr>
            <a:br>
              <a:rPr lang="en-US" sz="1700"/>
            </a:br>
            <a:r>
              <a:rPr lang="en-US" sz="1700"/>
              <a:t>Used combine performance and school data</a:t>
            </a:r>
            <a:br>
              <a:rPr lang="en-US" sz="1700"/>
            </a:br>
            <a:r>
              <a:rPr lang="en-US" sz="1700"/>
              <a:t>Found that visibility and conference prestige influence outcomes</a:t>
            </a:r>
          </a:p>
          <a:p>
            <a:pPr marL="0" indent="0">
              <a:buNone/>
            </a:pPr>
            <a:br>
              <a:rPr lang="en-US" sz="1700"/>
            </a:br>
            <a:r>
              <a:rPr lang="en-US" sz="1700"/>
              <a:t>Showed how talented athletes from smaller schools can be overlooked</a:t>
            </a:r>
          </a:p>
          <a:p>
            <a:pPr marL="0" indent="0">
              <a:buNone/>
            </a:pPr>
            <a:br>
              <a:rPr lang="en-US" sz="1700"/>
            </a:br>
            <a:r>
              <a:rPr lang="en-US" sz="1700"/>
              <a:t>Used analytics to identify hidden bias in sports recruitment</a:t>
            </a:r>
          </a:p>
        </p:txBody>
      </p:sp>
      <p:pic>
        <p:nvPicPr>
          <p:cNvPr id="3074" name="Picture 2" descr="National Football League - Wikipedia">
            <a:extLst>
              <a:ext uri="{FF2B5EF4-FFF2-40B4-BE49-F238E27FC236}">
                <a16:creationId xmlns:a16="http://schemas.microsoft.com/office/drawing/2014/main" id="{5379119F-C460-948F-1151-A46EE9853DD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03119" y="640080"/>
            <a:ext cx="4050826" cy="5577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487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E52F4F-D382-266C-C5D4-6E6C8E11E4D6}"/>
              </a:ext>
            </a:extLst>
          </p:cNvPr>
          <p:cNvSpPr>
            <a:spLocks noGrp="1"/>
          </p:cNvSpPr>
          <p:nvPr>
            <p:ph type="title"/>
          </p:nvPr>
        </p:nvSpPr>
        <p:spPr>
          <a:xfrm>
            <a:off x="630936" y="639520"/>
            <a:ext cx="3429000" cy="1719072"/>
          </a:xfrm>
        </p:spPr>
        <p:txBody>
          <a:bodyPr anchor="b">
            <a:normAutofit/>
          </a:bodyPr>
          <a:lstStyle/>
          <a:p>
            <a:r>
              <a:rPr lang="en-US" sz="3800"/>
              <a:t>What We Learned in CTEC 298</a:t>
            </a:r>
          </a:p>
        </p:txBody>
      </p:sp>
      <p:sp>
        <p:nvSpPr>
          <p:cNvPr id="41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119F045-E322-1B83-C61A-050B420BEBE6}"/>
              </a:ext>
            </a:extLst>
          </p:cNvPr>
          <p:cNvSpPr>
            <a:spLocks noGrp="1"/>
          </p:cNvSpPr>
          <p:nvPr>
            <p:ph idx="1"/>
          </p:nvPr>
        </p:nvSpPr>
        <p:spPr>
          <a:xfrm>
            <a:off x="630936" y="2807208"/>
            <a:ext cx="3429000" cy="3410712"/>
          </a:xfrm>
        </p:spPr>
        <p:txBody>
          <a:bodyPr anchor="t">
            <a:normAutofit/>
          </a:bodyPr>
          <a:lstStyle/>
          <a:p>
            <a:pPr marL="0" indent="0">
              <a:buNone/>
            </a:pPr>
            <a:r>
              <a:rPr lang="en-US" sz="1400"/>
              <a:t>Strengthened Python coding fundamentals</a:t>
            </a:r>
          </a:p>
          <a:p>
            <a:pPr marL="0" indent="0">
              <a:buNone/>
            </a:pPr>
            <a:br>
              <a:rPr lang="en-US" sz="1400"/>
            </a:br>
            <a:r>
              <a:rPr lang="en-US" sz="1400"/>
              <a:t>Practiced loops, functions, lists, classes, and dictionaries</a:t>
            </a:r>
          </a:p>
          <a:p>
            <a:pPr marL="0" indent="0">
              <a:buNone/>
            </a:pPr>
            <a:br>
              <a:rPr lang="en-US" sz="1400"/>
            </a:br>
            <a:r>
              <a:rPr lang="en-US" sz="1400"/>
              <a:t>Used Pandas for DataFrames and descriptive statistics</a:t>
            </a:r>
          </a:p>
          <a:p>
            <a:pPr marL="0" indent="0">
              <a:buNone/>
            </a:pPr>
            <a:br>
              <a:rPr lang="en-US" sz="1400"/>
            </a:br>
            <a:r>
              <a:rPr lang="en-US" sz="1400"/>
              <a:t>Used NumPy for numerical operations and slicing</a:t>
            </a:r>
          </a:p>
          <a:p>
            <a:pPr marL="0" indent="0">
              <a:buNone/>
            </a:pPr>
            <a:br>
              <a:rPr lang="en-US" sz="1400"/>
            </a:br>
            <a:r>
              <a:rPr lang="en-US" sz="1400"/>
              <a:t>Worked in Jupyter Notebook to test code interactively</a:t>
            </a:r>
          </a:p>
        </p:txBody>
      </p:sp>
      <p:pic>
        <p:nvPicPr>
          <p:cNvPr id="4098" name="Picture 2" descr="How can we be sure we have genuinely learned?">
            <a:extLst>
              <a:ext uri="{FF2B5EF4-FFF2-40B4-BE49-F238E27FC236}">
                <a16:creationId xmlns:a16="http://schemas.microsoft.com/office/drawing/2014/main" id="{54CA619F-6E41-94C9-AE13-942ACC079C9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1124883"/>
            <a:ext cx="6903720" cy="4608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5835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A3F9D1-ECF4-6ABF-9D4C-8B93AA48ADF3}"/>
              </a:ext>
            </a:extLst>
          </p:cNvPr>
          <p:cNvSpPr>
            <a:spLocks noGrp="1"/>
          </p:cNvSpPr>
          <p:nvPr>
            <p:ph type="title"/>
          </p:nvPr>
        </p:nvSpPr>
        <p:spPr>
          <a:xfrm>
            <a:off x="630936" y="640823"/>
            <a:ext cx="3419856" cy="5583148"/>
          </a:xfrm>
        </p:spPr>
        <p:txBody>
          <a:bodyPr anchor="ctr">
            <a:normAutofit/>
          </a:bodyPr>
          <a:lstStyle/>
          <a:p>
            <a:r>
              <a:rPr lang="en-US" sz="4600"/>
              <a:t>Data Visualization</a:t>
            </a:r>
          </a:p>
        </p:txBody>
      </p:sp>
      <p:sp>
        <p:nvSpPr>
          <p:cNvPr id="14"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green squares with white text">
            <a:extLst>
              <a:ext uri="{FF2B5EF4-FFF2-40B4-BE49-F238E27FC236}">
                <a16:creationId xmlns:a16="http://schemas.microsoft.com/office/drawing/2014/main" id="{5FB93162-D761-B0AC-28B4-B5F19AA2216D}"/>
              </a:ext>
            </a:extLst>
          </p:cNvPr>
          <p:cNvPicPr>
            <a:picLocks noChangeAspect="1"/>
          </p:cNvPicPr>
          <p:nvPr/>
        </p:nvPicPr>
        <p:blipFill>
          <a:blip r:embed="rId2"/>
          <a:stretch>
            <a:fillRect/>
          </a:stretch>
        </p:blipFill>
        <p:spPr>
          <a:xfrm>
            <a:off x="4654296" y="933054"/>
            <a:ext cx="6894576" cy="3309395"/>
          </a:xfrm>
          <a:prstGeom prst="rect">
            <a:avLst/>
          </a:prstGeom>
        </p:spPr>
      </p:pic>
      <p:sp>
        <p:nvSpPr>
          <p:cNvPr id="3" name="Content Placeholder 2">
            <a:extLst>
              <a:ext uri="{FF2B5EF4-FFF2-40B4-BE49-F238E27FC236}">
                <a16:creationId xmlns:a16="http://schemas.microsoft.com/office/drawing/2014/main" id="{1F7D92F8-4DC8-F0D7-1C46-19C65854DF82}"/>
              </a:ext>
            </a:extLst>
          </p:cNvPr>
          <p:cNvSpPr>
            <a:spLocks noGrp="1"/>
          </p:cNvSpPr>
          <p:nvPr>
            <p:ph idx="1"/>
          </p:nvPr>
        </p:nvSpPr>
        <p:spPr>
          <a:xfrm>
            <a:off x="4654296" y="4798577"/>
            <a:ext cx="6894576" cy="1428487"/>
          </a:xfrm>
        </p:spPr>
        <p:txBody>
          <a:bodyPr anchor="t">
            <a:normAutofit/>
          </a:bodyPr>
          <a:lstStyle/>
          <a:p>
            <a:pPr marL="0" indent="0">
              <a:buNone/>
            </a:pPr>
            <a:r>
              <a:rPr lang="en-US" sz="1500"/>
              <a:t>Created visual charts to support decision-making</a:t>
            </a:r>
          </a:p>
          <a:p>
            <a:pPr marL="0" indent="0">
              <a:buNone/>
            </a:pPr>
            <a:br>
              <a:rPr lang="en-US" sz="1500"/>
            </a:br>
            <a:r>
              <a:rPr lang="en-US" sz="1500"/>
              <a:t>Learned how visuals reveal patterns faster than raw tables</a:t>
            </a:r>
          </a:p>
          <a:p>
            <a:pPr marL="0" indent="0">
              <a:buNone/>
            </a:pPr>
            <a:br>
              <a:rPr lang="en-US" sz="1500"/>
            </a:br>
            <a:r>
              <a:rPr lang="en-US" sz="1500"/>
              <a:t>Built confidence presenting data clearly and visually</a:t>
            </a:r>
          </a:p>
        </p:txBody>
      </p:sp>
    </p:spTree>
    <p:extLst>
      <p:ext uri="{BB962C8B-B14F-4D97-AF65-F5344CB8AC3E}">
        <p14:creationId xmlns:p14="http://schemas.microsoft.com/office/powerpoint/2010/main" val="2026291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725CA7-E8B1-4450-FC06-369AB413DF6C}"/>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Plot Examples</a:t>
            </a:r>
          </a:p>
        </p:txBody>
      </p:sp>
      <p:sp>
        <p:nvSpPr>
          <p:cNvPr id="2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oup of blue graphs&#10;&#10;AI-generated content may be incorrect.">
            <a:extLst>
              <a:ext uri="{FF2B5EF4-FFF2-40B4-BE49-F238E27FC236}">
                <a16:creationId xmlns:a16="http://schemas.microsoft.com/office/drawing/2014/main" id="{91074670-5543-6CB8-AF13-6099EDDD24A6}"/>
              </a:ext>
            </a:extLst>
          </p:cNvPr>
          <p:cNvPicPr>
            <a:picLocks noChangeAspect="1"/>
          </p:cNvPicPr>
          <p:nvPr/>
        </p:nvPicPr>
        <p:blipFill>
          <a:blip r:embed="rId2"/>
          <a:stretch>
            <a:fillRect/>
          </a:stretch>
        </p:blipFill>
        <p:spPr>
          <a:xfrm>
            <a:off x="4654296" y="1007406"/>
            <a:ext cx="7214616" cy="4815756"/>
          </a:xfrm>
          <a:prstGeom prst="rect">
            <a:avLst/>
          </a:prstGeom>
        </p:spPr>
      </p:pic>
    </p:spTree>
    <p:extLst>
      <p:ext uri="{BB962C8B-B14F-4D97-AF65-F5344CB8AC3E}">
        <p14:creationId xmlns:p14="http://schemas.microsoft.com/office/powerpoint/2010/main" val="1596956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61" name="Rectangle 516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2B58CA-B732-77A2-24C5-6E2D24F8BF02}"/>
              </a:ext>
            </a:extLst>
          </p:cNvPr>
          <p:cNvSpPr>
            <a:spLocks noGrp="1"/>
          </p:cNvSpPr>
          <p:nvPr>
            <p:ph type="title"/>
          </p:nvPr>
        </p:nvSpPr>
        <p:spPr>
          <a:xfrm>
            <a:off x="630936" y="639520"/>
            <a:ext cx="3429000" cy="1719072"/>
          </a:xfrm>
        </p:spPr>
        <p:txBody>
          <a:bodyPr anchor="b">
            <a:normAutofit/>
          </a:bodyPr>
          <a:lstStyle/>
          <a:p>
            <a:r>
              <a:rPr lang="en-US" sz="5400"/>
              <a:t>Why This Matters</a:t>
            </a:r>
          </a:p>
        </p:txBody>
      </p:sp>
      <p:sp>
        <p:nvSpPr>
          <p:cNvPr id="516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2278D15-EBC8-A39F-7551-DF31524CF33B}"/>
              </a:ext>
            </a:extLst>
          </p:cNvPr>
          <p:cNvSpPr>
            <a:spLocks noGrp="1"/>
          </p:cNvSpPr>
          <p:nvPr>
            <p:ph idx="1"/>
          </p:nvPr>
        </p:nvSpPr>
        <p:spPr>
          <a:xfrm>
            <a:off x="630936" y="2807208"/>
            <a:ext cx="3429000" cy="3410712"/>
          </a:xfrm>
        </p:spPr>
        <p:txBody>
          <a:bodyPr anchor="t">
            <a:normAutofit/>
          </a:bodyPr>
          <a:lstStyle/>
          <a:p>
            <a:pPr marL="0" indent="0">
              <a:buNone/>
            </a:pPr>
            <a:r>
              <a:rPr lang="en-US" sz="2000"/>
              <a:t>Data helps expose inequity, bias, and hidden trends</a:t>
            </a:r>
          </a:p>
          <a:p>
            <a:pPr marL="0" indent="0">
              <a:buNone/>
            </a:pPr>
            <a:br>
              <a:rPr lang="en-US" sz="2000"/>
            </a:br>
            <a:r>
              <a:rPr lang="en-US" sz="2000"/>
              <a:t>Analytics can influence change in healthcare and sports</a:t>
            </a:r>
          </a:p>
          <a:p>
            <a:pPr marL="0" indent="0">
              <a:buNone/>
            </a:pPr>
            <a:br>
              <a:rPr lang="en-US" sz="2000"/>
            </a:br>
            <a:r>
              <a:rPr lang="en-US" sz="2000"/>
              <a:t>Technology supports smarter decisions and fairer outcomes</a:t>
            </a:r>
          </a:p>
        </p:txBody>
      </p:sp>
      <p:pic>
        <p:nvPicPr>
          <p:cNvPr id="5124" name="Picture 4" descr="Learn to Become More Tech Savvy to Make Life Easier | Techno FAQ">
            <a:extLst>
              <a:ext uri="{FF2B5EF4-FFF2-40B4-BE49-F238E27FC236}">
                <a16:creationId xmlns:a16="http://schemas.microsoft.com/office/drawing/2014/main" id="{5AED0CFF-CF76-FFF7-3F55-93B44F3BAAD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1659922"/>
            <a:ext cx="6903720" cy="3538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2326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62" name="Rectangle 616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496AB-DDFA-BFED-67CB-9C0BA30778A0}"/>
              </a:ext>
            </a:extLst>
          </p:cNvPr>
          <p:cNvSpPr>
            <a:spLocks noGrp="1"/>
          </p:cNvSpPr>
          <p:nvPr>
            <p:ph type="title"/>
          </p:nvPr>
        </p:nvSpPr>
        <p:spPr>
          <a:xfrm>
            <a:off x="640080" y="325369"/>
            <a:ext cx="4368602" cy="1956841"/>
          </a:xfrm>
        </p:spPr>
        <p:txBody>
          <a:bodyPr anchor="b">
            <a:normAutofit/>
          </a:bodyPr>
          <a:lstStyle/>
          <a:p>
            <a:r>
              <a:rPr lang="en-US" sz="5400"/>
              <a:t>Future</a:t>
            </a:r>
          </a:p>
        </p:txBody>
      </p:sp>
      <p:sp>
        <p:nvSpPr>
          <p:cNvPr id="616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5AA6C1C-505B-7E1D-8765-BF1DC676365C}"/>
              </a:ext>
            </a:extLst>
          </p:cNvPr>
          <p:cNvSpPr>
            <a:spLocks noGrp="1"/>
          </p:cNvSpPr>
          <p:nvPr>
            <p:ph idx="1"/>
          </p:nvPr>
        </p:nvSpPr>
        <p:spPr>
          <a:xfrm>
            <a:off x="640080" y="2872899"/>
            <a:ext cx="4243589" cy="3320668"/>
          </a:xfrm>
        </p:spPr>
        <p:txBody>
          <a:bodyPr>
            <a:normAutofit/>
          </a:bodyPr>
          <a:lstStyle/>
          <a:p>
            <a:pPr marL="0" indent="0">
              <a:buNone/>
            </a:pPr>
            <a:r>
              <a:rPr lang="en-US" sz="1700"/>
              <a:t>Our Python and data analytics skills apply directly to future roles</a:t>
            </a:r>
          </a:p>
          <a:p>
            <a:pPr marL="0" indent="0">
              <a:buNone/>
            </a:pPr>
            <a:br>
              <a:rPr lang="en-US" sz="1700"/>
            </a:br>
            <a:r>
              <a:rPr lang="en-US" sz="1700"/>
              <a:t>We can contribute as technical analysts or in tech consulting</a:t>
            </a:r>
          </a:p>
          <a:p>
            <a:pPr marL="0" indent="0">
              <a:buNone/>
            </a:pPr>
            <a:br>
              <a:rPr lang="en-US" sz="1700"/>
            </a:br>
            <a:r>
              <a:rPr lang="en-US" sz="1700"/>
              <a:t>Turning information into insights is valuable in every industry</a:t>
            </a:r>
          </a:p>
          <a:p>
            <a:pPr marL="0" indent="0">
              <a:buNone/>
            </a:pPr>
            <a:br>
              <a:rPr lang="en-US" sz="1700"/>
            </a:br>
            <a:r>
              <a:rPr lang="en-US" sz="1700"/>
              <a:t>This course prepared us for more advanced projects and careers in tech</a:t>
            </a:r>
          </a:p>
        </p:txBody>
      </p:sp>
      <p:pic>
        <p:nvPicPr>
          <p:cNvPr id="6146" name="Picture 2" descr="Technology Consulting: What Is It and Why It Matters? | Enkonix">
            <a:extLst>
              <a:ext uri="{FF2B5EF4-FFF2-40B4-BE49-F238E27FC236}">
                <a16:creationId xmlns:a16="http://schemas.microsoft.com/office/drawing/2014/main" id="{0C3914D4-217A-C424-F1DB-675E1D8810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303"/>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6976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84" name="Rectangle 7183">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95F897-955A-7491-AE6F-B2C138D44B74}"/>
              </a:ext>
            </a:extLst>
          </p:cNvPr>
          <p:cNvSpPr>
            <a:spLocks noGrp="1"/>
          </p:cNvSpPr>
          <p:nvPr>
            <p:ph type="title"/>
          </p:nvPr>
        </p:nvSpPr>
        <p:spPr>
          <a:xfrm>
            <a:off x="640080" y="325369"/>
            <a:ext cx="4368602" cy="1956841"/>
          </a:xfrm>
        </p:spPr>
        <p:txBody>
          <a:bodyPr anchor="b">
            <a:normAutofit/>
          </a:bodyPr>
          <a:lstStyle/>
          <a:p>
            <a:r>
              <a:rPr lang="en-US" sz="5400"/>
              <a:t>Closing Thoughts</a:t>
            </a:r>
          </a:p>
        </p:txBody>
      </p:sp>
      <p:sp>
        <p:nvSpPr>
          <p:cNvPr id="7186"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F74B6A9-09A9-2180-6934-5C87D38929D9}"/>
              </a:ext>
            </a:extLst>
          </p:cNvPr>
          <p:cNvSpPr>
            <a:spLocks noGrp="1"/>
          </p:cNvSpPr>
          <p:nvPr>
            <p:ph idx="1"/>
          </p:nvPr>
        </p:nvSpPr>
        <p:spPr>
          <a:xfrm>
            <a:off x="640080" y="2872899"/>
            <a:ext cx="4243589" cy="3320668"/>
          </a:xfrm>
        </p:spPr>
        <p:txBody>
          <a:bodyPr>
            <a:normAutofit/>
          </a:bodyPr>
          <a:lstStyle/>
          <a:p>
            <a:pPr marL="0" indent="0">
              <a:buNone/>
            </a:pPr>
            <a:r>
              <a:rPr lang="en-US" sz="2200"/>
              <a:t>We improved our technical skills and gained real experience</a:t>
            </a:r>
          </a:p>
          <a:p>
            <a:pPr marL="0" indent="0">
              <a:buNone/>
            </a:pPr>
            <a:br>
              <a:rPr lang="en-US" sz="2200"/>
            </a:br>
            <a:r>
              <a:rPr lang="en-US" sz="2200"/>
              <a:t>We are proud of the progress we made this semester</a:t>
            </a:r>
            <a:br>
              <a:rPr lang="en-US" sz="2200"/>
            </a:br>
            <a:r>
              <a:rPr lang="en-US" sz="2200"/>
              <a:t>Looking forward to expanding these abilities in our future jobs </a:t>
            </a:r>
          </a:p>
        </p:txBody>
      </p:sp>
      <p:pic>
        <p:nvPicPr>
          <p:cNvPr id="7170" name="Picture 2" descr="Future Tech Trends | Futurism">
            <a:extLst>
              <a:ext uri="{FF2B5EF4-FFF2-40B4-BE49-F238E27FC236}">
                <a16:creationId xmlns:a16="http://schemas.microsoft.com/office/drawing/2014/main" id="{37EC3D64-96E7-B070-DC10-FB7B33A9C9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079" r="2469" b="-1"/>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0386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A6CFA-7CCC-6A4A-A07E-4B8BFC84775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D186C760-67B5-C158-7303-5296F23A4D49}"/>
              </a:ext>
            </a:extLst>
          </p:cNvPr>
          <p:cNvSpPr>
            <a:spLocks noGrp="1"/>
          </p:cNvSpPr>
          <p:nvPr>
            <p:ph idx="1"/>
          </p:nvPr>
        </p:nvSpPr>
        <p:spPr/>
        <p:txBody>
          <a:bodyPr/>
          <a:lstStyle/>
          <a:p>
            <a:pPr marL="0" indent="0">
              <a:buNone/>
            </a:pPr>
            <a:r>
              <a:rPr lang="en-US" dirty="0"/>
              <a:t>Bah, Mamadu. </a:t>
            </a:r>
            <a:r>
              <a:rPr lang="en-US" i="1" dirty="0"/>
              <a:t>Maternal Mortality Data Analysis Project</a:t>
            </a:r>
            <a:r>
              <a:rPr lang="en-US" dirty="0"/>
              <a:t>. CTEC 128 Final Project, Fall 2025.</a:t>
            </a:r>
            <a:br>
              <a:rPr lang="en-US" dirty="0"/>
            </a:br>
            <a:r>
              <a:rPr lang="en-US" dirty="0"/>
              <a:t>Appiah, Prince. </a:t>
            </a:r>
            <a:r>
              <a:rPr lang="en-US" i="1" dirty="0"/>
              <a:t>NFL Draft Data Analysis Project</a:t>
            </a:r>
            <a:r>
              <a:rPr lang="en-US" dirty="0"/>
              <a:t>. CTEC 128 Coursework Submission, Fall 2025.</a:t>
            </a:r>
            <a:br>
              <a:rPr lang="en-US" dirty="0"/>
            </a:br>
            <a:r>
              <a:rPr lang="en-US" dirty="0"/>
              <a:t>Black Mamas Matter Alliance. “Advancing Black Maternal Health, Rights, and Justice.” 2023.</a:t>
            </a:r>
            <a:br>
              <a:rPr lang="en-US" dirty="0"/>
            </a:br>
            <a:r>
              <a:rPr lang="en-US" dirty="0"/>
              <a:t>Centers for Disease Control and Prevention (CDC). “United States Maternal Mortality Statistics.” 2023.</a:t>
            </a:r>
            <a:br>
              <a:rPr lang="en-US" dirty="0"/>
            </a:br>
            <a:r>
              <a:rPr lang="en-US" dirty="0"/>
              <a:t>Course instruction and Python exercises, CTEC 298, Fall 2025.</a:t>
            </a:r>
          </a:p>
        </p:txBody>
      </p:sp>
    </p:spTree>
    <p:extLst>
      <p:ext uri="{BB962C8B-B14F-4D97-AF65-F5344CB8AC3E}">
        <p14:creationId xmlns:p14="http://schemas.microsoft.com/office/powerpoint/2010/main" val="810655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446</Words>
  <Application>Microsoft Macintosh PowerPoint</Application>
  <PresentationFormat>Widescreen</PresentationFormat>
  <Paragraphs>43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Becoming  a Data Scientist</vt:lpstr>
      <vt:lpstr>Introduction</vt:lpstr>
      <vt:lpstr>CTEC 128 - Mamadu</vt:lpstr>
      <vt:lpstr>CTEC 128 - Prince</vt:lpstr>
      <vt:lpstr>What We Learned in CTEC 298</vt:lpstr>
      <vt:lpstr>Data Visualization</vt:lpstr>
      <vt:lpstr>Plot Examples</vt:lpstr>
      <vt:lpstr>Why This Matters</vt:lpstr>
      <vt:lpstr>Future</vt:lpstr>
      <vt:lpstr>Closing Thoughts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Mamadu S Bah</dc:creator>
  <cp:lastModifiedBy>Mamadu S Bah</cp:lastModifiedBy>
  <cp:revision>2</cp:revision>
  <dcterms:created xsi:type="dcterms:W3CDTF">2025-12-02T21:16:27Z</dcterms:created>
  <dcterms:modified xsi:type="dcterms:W3CDTF">2025-12-02T22:00:42Z</dcterms:modified>
</cp:coreProperties>
</file>
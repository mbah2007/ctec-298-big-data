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4" r:id="rId3"/>
    <p:sldId id="257" r:id="rId4"/>
    <p:sldId id="258" r:id="rId5"/>
    <p:sldId id="259" r:id="rId6"/>
    <p:sldId id="260" r:id="rId7"/>
    <p:sldId id="261" r:id="rId8"/>
    <p:sldId id="262" r:id="rId9"/>
    <p:sldId id="269" r:id="rId10"/>
    <p:sldId id="266" r:id="rId11"/>
    <p:sldId id="271" r:id="rId12"/>
    <p:sldId id="267" r:id="rId13"/>
    <p:sldId id="272" r:id="rId14"/>
    <p:sldId id="273" r:id="rId15"/>
    <p:sldId id="268"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57"/>
    <p:restoredTop sz="69318"/>
  </p:normalViewPr>
  <p:slideViewPr>
    <p:cSldViewPr snapToGrid="0">
      <p:cViewPr varScale="1">
        <p:scale>
          <a:sx n="88" d="100"/>
          <a:sy n="88" d="100"/>
        </p:scale>
        <p:origin x="1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3237BC-C0A5-6B49-9EF7-2F29061CA483}" type="datetimeFigureOut">
              <a:rPr lang="en-US" smtClean="0"/>
              <a:t>10/8/25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96EF3-36B8-564C-9A1C-DE2A4AA61929}" type="slidenum">
              <a:rPr lang="en-US" smtClean="0"/>
              <a:t>‹#›</a:t>
            </a:fld>
            <a:endParaRPr lang="en-US"/>
          </a:p>
        </p:txBody>
      </p:sp>
    </p:spTree>
    <p:extLst>
      <p:ext uri="{BB962C8B-B14F-4D97-AF65-F5344CB8AC3E}">
        <p14:creationId xmlns:p14="http://schemas.microsoft.com/office/powerpoint/2010/main" val="2359614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896EF3-36B8-564C-9A1C-DE2A4AA61929}" type="slidenum">
              <a:rPr lang="en-US" smtClean="0"/>
              <a:t>2</a:t>
            </a:fld>
            <a:endParaRPr lang="en-US"/>
          </a:p>
        </p:txBody>
      </p:sp>
    </p:spTree>
    <p:extLst>
      <p:ext uri="{BB962C8B-B14F-4D97-AF65-F5344CB8AC3E}">
        <p14:creationId xmlns:p14="http://schemas.microsoft.com/office/powerpoint/2010/main" val="647592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topic because I wanted to see how big the gap really is and whether things have improved. The data shows that Black women still face the highest maternal mortality rates due to systemic healthcare inequality.</a:t>
            </a:r>
          </a:p>
        </p:txBody>
      </p:sp>
      <p:sp>
        <p:nvSpPr>
          <p:cNvPr id="4" name="Slide Number Placeholder 3"/>
          <p:cNvSpPr>
            <a:spLocks noGrp="1"/>
          </p:cNvSpPr>
          <p:nvPr>
            <p:ph type="sldNum" sz="quarter" idx="5"/>
          </p:nvPr>
        </p:nvSpPr>
        <p:spPr/>
        <p:txBody>
          <a:bodyPr/>
          <a:lstStyle/>
          <a:p>
            <a:fld id="{FE896EF3-36B8-564C-9A1C-DE2A4AA61929}" type="slidenum">
              <a:rPr lang="en-US" smtClean="0"/>
              <a:t>3</a:t>
            </a:fld>
            <a:endParaRPr lang="en-US"/>
          </a:p>
        </p:txBody>
      </p:sp>
    </p:spTree>
    <p:extLst>
      <p:ext uri="{BB962C8B-B14F-4D97-AF65-F5344CB8AC3E}">
        <p14:creationId xmlns:p14="http://schemas.microsoft.com/office/powerpoint/2010/main" val="336180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aligns with the Black Mamas Matter Alliance since their mission is to bring awareness and push for change in Black maternal healthcare.</a:t>
            </a:r>
          </a:p>
        </p:txBody>
      </p:sp>
      <p:sp>
        <p:nvSpPr>
          <p:cNvPr id="4" name="Slide Number Placeholder 3"/>
          <p:cNvSpPr>
            <a:spLocks noGrp="1"/>
          </p:cNvSpPr>
          <p:nvPr>
            <p:ph type="sldNum" sz="quarter" idx="5"/>
          </p:nvPr>
        </p:nvSpPr>
        <p:spPr/>
        <p:txBody>
          <a:bodyPr/>
          <a:lstStyle/>
          <a:p>
            <a:fld id="{FE896EF3-36B8-564C-9A1C-DE2A4AA61929}" type="slidenum">
              <a:rPr lang="en-US" smtClean="0"/>
              <a:t>4</a:t>
            </a:fld>
            <a:endParaRPr lang="en-US"/>
          </a:p>
        </p:txBody>
      </p:sp>
    </p:spTree>
    <p:extLst>
      <p:ext uri="{BB962C8B-B14F-4D97-AF65-F5344CB8AC3E}">
        <p14:creationId xmlns:p14="http://schemas.microsoft.com/office/powerpoint/2010/main" val="4265984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includes 10,000 rows showing mortality rates by race and year. It’s based on CDC trends but modeled synthetically for analysis..</a:t>
            </a:r>
          </a:p>
        </p:txBody>
      </p:sp>
      <p:sp>
        <p:nvSpPr>
          <p:cNvPr id="4" name="Slide Number Placeholder 3"/>
          <p:cNvSpPr>
            <a:spLocks noGrp="1"/>
          </p:cNvSpPr>
          <p:nvPr>
            <p:ph type="sldNum" sz="quarter" idx="5"/>
          </p:nvPr>
        </p:nvSpPr>
        <p:spPr/>
        <p:txBody>
          <a:bodyPr/>
          <a:lstStyle/>
          <a:p>
            <a:fld id="{FE896EF3-36B8-564C-9A1C-DE2A4AA61929}" type="slidenum">
              <a:rPr lang="en-US" smtClean="0"/>
              <a:t>7</a:t>
            </a:fld>
            <a:endParaRPr lang="en-US"/>
          </a:p>
        </p:txBody>
      </p:sp>
    </p:spTree>
    <p:extLst>
      <p:ext uri="{BB962C8B-B14F-4D97-AF65-F5344CB8AC3E}">
        <p14:creationId xmlns:p14="http://schemas.microsoft.com/office/powerpoint/2010/main" val="2618580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cleaned the data by removing missing values and calculating consistent mortality rates per 100,000 births.</a:t>
            </a:r>
          </a:p>
        </p:txBody>
      </p:sp>
      <p:sp>
        <p:nvSpPr>
          <p:cNvPr id="4" name="Slide Number Placeholder 3"/>
          <p:cNvSpPr>
            <a:spLocks noGrp="1"/>
          </p:cNvSpPr>
          <p:nvPr>
            <p:ph type="sldNum" sz="quarter" idx="5"/>
          </p:nvPr>
        </p:nvSpPr>
        <p:spPr/>
        <p:txBody>
          <a:bodyPr/>
          <a:lstStyle/>
          <a:p>
            <a:fld id="{FE896EF3-36B8-564C-9A1C-DE2A4AA61929}" type="slidenum">
              <a:rPr lang="en-US" smtClean="0"/>
              <a:t>8</a:t>
            </a:fld>
            <a:endParaRPr lang="en-US"/>
          </a:p>
        </p:txBody>
      </p:sp>
    </p:spTree>
    <p:extLst>
      <p:ext uri="{BB962C8B-B14F-4D97-AF65-F5344CB8AC3E}">
        <p14:creationId xmlns:p14="http://schemas.microsoft.com/office/powerpoint/2010/main" val="4132469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visuals make it clear that Black women consistently have the highest maternal mortality rate across all years.</a:t>
            </a:r>
          </a:p>
        </p:txBody>
      </p:sp>
      <p:sp>
        <p:nvSpPr>
          <p:cNvPr id="4" name="Slide Number Placeholder 3"/>
          <p:cNvSpPr>
            <a:spLocks noGrp="1"/>
          </p:cNvSpPr>
          <p:nvPr>
            <p:ph type="sldNum" sz="quarter" idx="5"/>
          </p:nvPr>
        </p:nvSpPr>
        <p:spPr/>
        <p:txBody>
          <a:bodyPr/>
          <a:lstStyle/>
          <a:p>
            <a:fld id="{FE896EF3-36B8-564C-9A1C-DE2A4AA61929}" type="slidenum">
              <a:rPr lang="en-US" smtClean="0"/>
              <a:t>9</a:t>
            </a:fld>
            <a:endParaRPr lang="en-US"/>
          </a:p>
        </p:txBody>
      </p:sp>
    </p:spTree>
    <p:extLst>
      <p:ext uri="{BB962C8B-B14F-4D97-AF65-F5344CB8AC3E}">
        <p14:creationId xmlns:p14="http://schemas.microsoft.com/office/powerpoint/2010/main" val="3862281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I used to clean my dataset</a:t>
            </a:r>
          </a:p>
          <a:p>
            <a:br>
              <a:rPr lang="en-US" dirty="0"/>
            </a:br>
            <a:r>
              <a:rPr lang="en-US" dirty="0"/>
              <a:t>At first, my data had a few problems — it was randomized, included Hispanic rows I didn’t need, and had some missing or incomplete values.</a:t>
            </a:r>
            <a:br>
              <a:rPr lang="en-US" dirty="0"/>
            </a:br>
            <a:r>
              <a:rPr lang="en-US" dirty="0"/>
              <a:t>I used </a:t>
            </a:r>
            <a:r>
              <a:rPr lang="en-US" b="1" dirty="0"/>
              <a:t>pandas</a:t>
            </a:r>
            <a:r>
              <a:rPr lang="en-US" dirty="0"/>
              <a:t> to clean the data, remove errors, and calculate the mortality rate per 100,000 births.</a:t>
            </a:r>
          </a:p>
        </p:txBody>
      </p:sp>
      <p:sp>
        <p:nvSpPr>
          <p:cNvPr id="4" name="Slide Number Placeholder 3"/>
          <p:cNvSpPr>
            <a:spLocks noGrp="1"/>
          </p:cNvSpPr>
          <p:nvPr>
            <p:ph type="sldNum" sz="quarter" idx="5"/>
          </p:nvPr>
        </p:nvSpPr>
        <p:spPr/>
        <p:txBody>
          <a:bodyPr/>
          <a:lstStyle/>
          <a:p>
            <a:fld id="{FE896EF3-36B8-564C-9A1C-DE2A4AA61929}" type="slidenum">
              <a:rPr lang="en-US" smtClean="0"/>
              <a:t>10</a:t>
            </a:fld>
            <a:endParaRPr lang="en-US"/>
          </a:p>
        </p:txBody>
      </p:sp>
    </p:spTree>
    <p:extLst>
      <p:ext uri="{BB962C8B-B14F-4D97-AF65-F5344CB8AC3E}">
        <p14:creationId xmlns:p14="http://schemas.microsoft.com/office/powerpoint/2010/main" val="700950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used logistic regression to predict which groups were high risk. It confirmed that Black women consistently fell into the high-risk category. Logistic regression is a simple machine learning model that predicts a yes or no outcome. In my project, it was used to predict if a record was high-risk, and it showed that Black women were most likely to fall into that category.</a:t>
            </a:r>
          </a:p>
          <a:p>
            <a:endParaRPr lang="en-US" dirty="0"/>
          </a:p>
        </p:txBody>
      </p:sp>
      <p:sp>
        <p:nvSpPr>
          <p:cNvPr id="4" name="Slide Number Placeholder 3"/>
          <p:cNvSpPr>
            <a:spLocks noGrp="1"/>
          </p:cNvSpPr>
          <p:nvPr>
            <p:ph type="sldNum" sz="quarter" idx="5"/>
          </p:nvPr>
        </p:nvSpPr>
        <p:spPr/>
        <p:txBody>
          <a:bodyPr/>
          <a:lstStyle/>
          <a:p>
            <a:fld id="{FE896EF3-36B8-564C-9A1C-DE2A4AA61929}" type="slidenum">
              <a:rPr lang="en-US" smtClean="0"/>
              <a:t>11</a:t>
            </a:fld>
            <a:endParaRPr lang="en-US"/>
          </a:p>
        </p:txBody>
      </p:sp>
    </p:spTree>
    <p:extLst>
      <p:ext uri="{BB962C8B-B14F-4D97-AF65-F5344CB8AC3E}">
        <p14:creationId xmlns:p14="http://schemas.microsoft.com/office/powerpoint/2010/main" val="2253468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biggest insight is that nothing has changed — Black women’s rates remain over three times higher than other groups.</a:t>
            </a:r>
          </a:p>
          <a:p>
            <a:endParaRPr lang="en-US" dirty="0"/>
          </a:p>
        </p:txBody>
      </p:sp>
      <p:sp>
        <p:nvSpPr>
          <p:cNvPr id="4" name="Slide Number Placeholder 3"/>
          <p:cNvSpPr>
            <a:spLocks noGrp="1"/>
          </p:cNvSpPr>
          <p:nvPr>
            <p:ph type="sldNum" sz="quarter" idx="5"/>
          </p:nvPr>
        </p:nvSpPr>
        <p:spPr/>
        <p:txBody>
          <a:bodyPr/>
          <a:lstStyle/>
          <a:p>
            <a:fld id="{FE896EF3-36B8-564C-9A1C-DE2A4AA61929}" type="slidenum">
              <a:rPr lang="en-US" smtClean="0"/>
              <a:t>13</a:t>
            </a:fld>
            <a:endParaRPr lang="en-US"/>
          </a:p>
        </p:txBody>
      </p:sp>
    </p:spTree>
    <p:extLst>
      <p:ext uri="{BB962C8B-B14F-4D97-AF65-F5344CB8AC3E}">
        <p14:creationId xmlns:p14="http://schemas.microsoft.com/office/powerpoint/2010/main" val="1783358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make the data more interactive and visible — through a blog or social media campaign that spreads awareness and helps families.</a:t>
            </a:r>
          </a:p>
        </p:txBody>
      </p:sp>
      <p:sp>
        <p:nvSpPr>
          <p:cNvPr id="4" name="Slide Number Placeholder 3"/>
          <p:cNvSpPr>
            <a:spLocks noGrp="1"/>
          </p:cNvSpPr>
          <p:nvPr>
            <p:ph type="sldNum" sz="quarter" idx="5"/>
          </p:nvPr>
        </p:nvSpPr>
        <p:spPr/>
        <p:txBody>
          <a:bodyPr/>
          <a:lstStyle/>
          <a:p>
            <a:fld id="{FE896EF3-36B8-564C-9A1C-DE2A4AA61929}" type="slidenum">
              <a:rPr lang="en-US" smtClean="0"/>
              <a:t>14</a:t>
            </a:fld>
            <a:endParaRPr lang="en-US"/>
          </a:p>
        </p:txBody>
      </p:sp>
    </p:spTree>
    <p:extLst>
      <p:ext uri="{BB962C8B-B14F-4D97-AF65-F5344CB8AC3E}">
        <p14:creationId xmlns:p14="http://schemas.microsoft.com/office/powerpoint/2010/main" val="3231250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862D-D62F-7BF7-0254-03DC0C4E71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E815FC-599A-20D2-39A6-B791232A10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EF4D3B-F531-92C1-CA5E-67B389AD6AAE}"/>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1D8DAA4E-10B5-A33D-0766-73C524832B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B9FE06-C4B5-5784-C813-3AB67EFC83AC}"/>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1368216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A41A9-AA70-EEF1-2048-98FBF77713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477A6B-C955-2A77-A7BA-1CF13A2B4C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D99A06-480A-81BF-23ED-45AF4F7F6554}"/>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9380F4BD-C6F9-CBC6-4F25-B60768B82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952F05-A2DD-DF37-38FC-7727B721DF9D}"/>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3692259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81F2A-F83A-DAC1-1670-BB980C4860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EFF42B-3B1B-996C-A718-00F2DD57F9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A04363-8957-433D-A66C-E130F666B0D5}"/>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8BFB9D3D-6EF9-887A-836D-E911EE8B6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C4993-295B-E3BC-8903-6C5846C2430D}"/>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2133916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8BEC-9A50-1F12-6A00-6718112F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041685-B097-1518-DE5E-0B6F2E55FA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826A08-DB64-F2DB-5CDF-40C9155FE1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822F7B-470A-4AC4-3296-1DDE83A66747}"/>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6" name="Footer Placeholder 5">
            <a:extLst>
              <a:ext uri="{FF2B5EF4-FFF2-40B4-BE49-F238E27FC236}">
                <a16:creationId xmlns:a16="http://schemas.microsoft.com/office/drawing/2014/main" id="{E40BC9DB-5B34-5AA2-3B2D-7AC8C80329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9CE7DB-8488-0356-52D1-31A2C7E2C03D}"/>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1389104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AFEBE-DDB6-1647-C07E-589774E293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FF43F3-746E-D49B-B3A2-EF2299D3C6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2058E7-27D5-1D4B-3E6C-2961E86B79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CF8161-0B79-1203-97B7-E2BDA47908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2772F2-75F4-AA37-8A52-D65B4E7BED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604B03-C7FE-7550-A0AD-99D7A7922193}"/>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8" name="Footer Placeholder 7">
            <a:extLst>
              <a:ext uri="{FF2B5EF4-FFF2-40B4-BE49-F238E27FC236}">
                <a16:creationId xmlns:a16="http://schemas.microsoft.com/office/drawing/2014/main" id="{C9150BF3-B3E2-BEB8-7164-20C205B80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F19C0-252D-0CEF-8AB5-848D48156979}"/>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3241554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36D3-7632-59F1-DDE9-018920A46E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E9F6-A1CD-44C8-C15D-D530BC98133A}"/>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4" name="Footer Placeholder 3">
            <a:extLst>
              <a:ext uri="{FF2B5EF4-FFF2-40B4-BE49-F238E27FC236}">
                <a16:creationId xmlns:a16="http://schemas.microsoft.com/office/drawing/2014/main" id="{4BAF2DBB-1E0E-B4A4-B4FE-593FD793B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638290-35AC-072B-0D97-87302F91C3F9}"/>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157913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480FCF-58EB-A103-8457-AA1D0BCCFD7C}"/>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3" name="Footer Placeholder 2">
            <a:extLst>
              <a:ext uri="{FF2B5EF4-FFF2-40B4-BE49-F238E27FC236}">
                <a16:creationId xmlns:a16="http://schemas.microsoft.com/office/drawing/2014/main" id="{BC2A7622-E6B2-49D9-FF82-6C3907BB66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2C3190-824F-74DD-BF4E-F76B72F70262}"/>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192175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3CDAA-E72F-9D1E-C9F5-7C64C1F20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217631-A4BC-BF30-DEE9-674DC28AE9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027221-58A1-FB52-74CD-03B7AFB47A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B7F9DA-266E-DB25-C325-06E890B4DC3F}"/>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6" name="Footer Placeholder 5">
            <a:extLst>
              <a:ext uri="{FF2B5EF4-FFF2-40B4-BE49-F238E27FC236}">
                <a16:creationId xmlns:a16="http://schemas.microsoft.com/office/drawing/2014/main" id="{E57BB40E-4A38-C70D-8854-49B654AF33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D8481-9034-29D4-4720-6C37C935CABD}"/>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89678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EED3-5D1F-3F08-CCCB-E5C96CCA2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53F806-A78E-6CA1-F985-E9F751DF5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75D7C8-F8BA-E8FB-A995-3AECFD102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7015E8-3519-B22C-3806-2566CC7BBE8A}"/>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6" name="Footer Placeholder 5">
            <a:extLst>
              <a:ext uri="{FF2B5EF4-FFF2-40B4-BE49-F238E27FC236}">
                <a16:creationId xmlns:a16="http://schemas.microsoft.com/office/drawing/2014/main" id="{483FC5EE-AB9A-ADFD-87EC-BFC102DD1B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14BD4E-F751-7F75-6A95-BA6A7750B801}"/>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2406650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9012-72DE-4403-3488-F53AF1A2B1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1DA0AF-A738-2265-7399-341EE68BFB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79FE0-4ABE-2BFC-2C31-278C21F607C1}"/>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0A5C588A-C253-C431-569C-ACF85A827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BE2807-ED3F-A5CF-4486-70203EA53E1E}"/>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4051731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74983-B302-D2D6-0A76-E2A7F9AA71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5EE6BA-03FF-B2E4-7BF4-67523770F1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444EB-3DDB-778F-B37A-661FF34A17DC}"/>
              </a:ext>
            </a:extLst>
          </p:cNvPr>
          <p:cNvSpPr>
            <a:spLocks noGrp="1"/>
          </p:cNvSpPr>
          <p:nvPr>
            <p:ph type="dt" sz="half" idx="10"/>
          </p:nvPr>
        </p:nvSpPr>
        <p:spPr/>
        <p:txBody>
          <a:body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48877340-CCF5-C49D-D3E7-1B203A2F8B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1A68C-3E2C-BF10-B601-33B4960BCF64}"/>
              </a:ext>
            </a:extLst>
          </p:cNvPr>
          <p:cNvSpPr>
            <a:spLocks noGrp="1"/>
          </p:cNvSpPr>
          <p:nvPr>
            <p:ph type="sldNum" sz="quarter" idx="12"/>
          </p:nvPr>
        </p:nvSpPr>
        <p:spPr/>
        <p:txBody>
          <a:bodyPr/>
          <a:lstStyle/>
          <a:p>
            <a:fld id="{AB8C804F-4118-9247-A33E-7FD08F87345D}" type="slidenum">
              <a:rPr lang="en-US" smtClean="0"/>
              <a:t>‹#›</a:t>
            </a:fld>
            <a:endParaRPr lang="en-US"/>
          </a:p>
        </p:txBody>
      </p:sp>
    </p:spTree>
    <p:extLst>
      <p:ext uri="{BB962C8B-B14F-4D97-AF65-F5344CB8AC3E}">
        <p14:creationId xmlns:p14="http://schemas.microsoft.com/office/powerpoint/2010/main" val="3957088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98FE5E-91D6-741D-AD57-05824EA52A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17ACF3-CB32-A90C-0FEA-506D75E5BD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BE6D4F-2F37-8625-74A1-4406E48A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D0F745-6E95-5447-981D-142DDC38D262}" type="datetimeFigureOut">
              <a:rPr lang="en-US" smtClean="0"/>
              <a:t>10/8/25</a:t>
            </a:fld>
            <a:endParaRPr lang="en-US"/>
          </a:p>
        </p:txBody>
      </p:sp>
      <p:sp>
        <p:nvSpPr>
          <p:cNvPr id="5" name="Footer Placeholder 4">
            <a:extLst>
              <a:ext uri="{FF2B5EF4-FFF2-40B4-BE49-F238E27FC236}">
                <a16:creationId xmlns:a16="http://schemas.microsoft.com/office/drawing/2014/main" id="{42EC4D5A-3482-BD59-2E80-8F08A355E2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9AF265-624D-B083-0DE5-C32256ED1F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8C804F-4118-9247-A33E-7FD08F87345D}" type="slidenum">
              <a:rPr lang="en-US" smtClean="0"/>
              <a:t>‹#›</a:t>
            </a:fld>
            <a:endParaRPr lang="en-US"/>
          </a:p>
        </p:txBody>
      </p:sp>
    </p:spTree>
    <p:extLst>
      <p:ext uri="{BB962C8B-B14F-4D97-AF65-F5344CB8AC3E}">
        <p14:creationId xmlns:p14="http://schemas.microsoft.com/office/powerpoint/2010/main" val="3175176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ho.int/" TargetMode="External"/><Relationship Id="rId2" Type="http://schemas.openxmlformats.org/officeDocument/2006/relationships/hyperlink" Target="https://www.cdc.gov/nch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maternal health crisis: Addressing disparities and improving outcomes |  Wolters Kluwer">
            <a:extLst>
              <a:ext uri="{FF2B5EF4-FFF2-40B4-BE49-F238E27FC236}">
                <a16:creationId xmlns:a16="http://schemas.microsoft.com/office/drawing/2014/main" id="{F714D550-0AD0-AF95-5140-062C3EEB3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84" r="-1" b="-1"/>
          <a:stretch>
            <a:fillRect/>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79DA77-3783-269A-8313-8A57628FC62B}"/>
              </a:ext>
            </a:extLst>
          </p:cNvPr>
          <p:cNvSpPr>
            <a:spLocks noGrp="1"/>
          </p:cNvSpPr>
          <p:nvPr>
            <p:ph type="ctrTitle"/>
          </p:nvPr>
        </p:nvSpPr>
        <p:spPr>
          <a:xfrm>
            <a:off x="7935402" y="743447"/>
            <a:ext cx="3445765" cy="3692028"/>
          </a:xfrm>
          <a:noFill/>
        </p:spPr>
        <p:txBody>
          <a:bodyPr>
            <a:normAutofit/>
          </a:bodyPr>
          <a:lstStyle/>
          <a:p>
            <a:pPr algn="l"/>
            <a:r>
              <a:rPr lang="en-US" sz="5200"/>
              <a:t>Healthcare Disparities in Maternal Mortality</a:t>
            </a:r>
          </a:p>
        </p:txBody>
      </p:sp>
      <p:sp>
        <p:nvSpPr>
          <p:cNvPr id="3" name="Subtitle 2">
            <a:extLst>
              <a:ext uri="{FF2B5EF4-FFF2-40B4-BE49-F238E27FC236}">
                <a16:creationId xmlns:a16="http://schemas.microsoft.com/office/drawing/2014/main" id="{5301F64A-53D2-B642-C3D2-7AFCC1ECF386}"/>
              </a:ext>
            </a:extLst>
          </p:cNvPr>
          <p:cNvSpPr>
            <a:spLocks noGrp="1"/>
          </p:cNvSpPr>
          <p:nvPr>
            <p:ph type="subTitle" idx="1"/>
          </p:nvPr>
        </p:nvSpPr>
        <p:spPr>
          <a:xfrm>
            <a:off x="7935403" y="4629234"/>
            <a:ext cx="3445766" cy="1485319"/>
          </a:xfrm>
          <a:noFill/>
        </p:spPr>
        <p:txBody>
          <a:bodyPr>
            <a:normAutofit/>
          </a:bodyPr>
          <a:lstStyle/>
          <a:p>
            <a:pPr algn="l"/>
            <a:r>
              <a:rPr lang="en-US" dirty="0"/>
              <a:t>Mamadu Bah</a:t>
            </a:r>
            <a:endParaRPr lang="en-US"/>
          </a:p>
          <a:p>
            <a:pPr algn="l"/>
            <a:r>
              <a:rPr lang="en-US" dirty="0"/>
              <a:t>CTEC 426</a:t>
            </a:r>
            <a:endParaRPr lang="en-US"/>
          </a:p>
        </p:txBody>
      </p:sp>
    </p:spTree>
    <p:extLst>
      <p:ext uri="{BB962C8B-B14F-4D97-AF65-F5344CB8AC3E}">
        <p14:creationId xmlns:p14="http://schemas.microsoft.com/office/powerpoint/2010/main" val="2558515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9DD1A2-8A69-B6C0-B968-A145D450BF7A}"/>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a:t>What is Mortality </a:t>
            </a:r>
          </a:p>
        </p:txBody>
      </p:sp>
      <p:sp>
        <p:nvSpPr>
          <p:cNvPr id="3" name="Content Placeholder 2">
            <a:extLst>
              <a:ext uri="{FF2B5EF4-FFF2-40B4-BE49-F238E27FC236}">
                <a16:creationId xmlns:a16="http://schemas.microsoft.com/office/drawing/2014/main" id="{A76A6ECB-0DAA-0FE8-83A7-E16DEE696032}"/>
              </a:ext>
            </a:extLst>
          </p:cNvPr>
          <p:cNvSpPr>
            <a:spLocks noGrp="1"/>
          </p:cNvSpPr>
          <p:nvPr>
            <p:ph idx="1"/>
          </p:nvPr>
        </p:nvSpPr>
        <p:spPr>
          <a:xfrm>
            <a:off x="890339" y="4636008"/>
            <a:ext cx="3734014" cy="1572768"/>
          </a:xfrm>
        </p:spPr>
        <p:txBody>
          <a:bodyPr vert="horz" lIns="91440" tIns="45720" rIns="91440" bIns="45720" rtlCol="0">
            <a:normAutofit/>
          </a:bodyPr>
          <a:lstStyle/>
          <a:p>
            <a:pPr marL="0" indent="0">
              <a:buNone/>
            </a:pPr>
            <a:r>
              <a:rPr lang="en-US" sz="2400"/>
              <a:t>Pregnancy mortality refers to deaths that occur during or within one year after pregnancy</a:t>
            </a:r>
          </a:p>
        </p:txBody>
      </p:sp>
      <p:sp>
        <p:nvSpPr>
          <p:cNvPr id="104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spital Sued For Mom's Caesarean-Related Death | Levin &amp; Perconti">
            <a:extLst>
              <a:ext uri="{FF2B5EF4-FFF2-40B4-BE49-F238E27FC236}">
                <a16:creationId xmlns:a16="http://schemas.microsoft.com/office/drawing/2014/main" id="{B1D482D7-2BD7-1F8D-4A74-2CD9366EB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919" r="19128"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98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08033-5931-70A5-0A76-A10BF89752DE}"/>
              </a:ext>
            </a:extLst>
          </p:cNvPr>
          <p:cNvSpPr>
            <a:spLocks noGrp="1"/>
          </p:cNvSpPr>
          <p:nvPr>
            <p:ph type="title"/>
          </p:nvPr>
        </p:nvSpPr>
        <p:spPr>
          <a:xfrm>
            <a:off x="640080" y="325369"/>
            <a:ext cx="4368602" cy="1956841"/>
          </a:xfrm>
        </p:spPr>
        <p:txBody>
          <a:bodyPr anchor="b">
            <a:normAutofit/>
          </a:bodyPr>
          <a:lstStyle/>
          <a:p>
            <a:r>
              <a:rPr lang="en-US" sz="5400"/>
              <a:t>Problem</a:t>
            </a:r>
          </a:p>
        </p:txBody>
      </p:sp>
      <p:sp>
        <p:nvSpPr>
          <p:cNvPr id="205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090C6E-1FEF-18B9-9043-646E66C456BA}"/>
              </a:ext>
            </a:extLst>
          </p:cNvPr>
          <p:cNvSpPr>
            <a:spLocks noGrp="1"/>
          </p:cNvSpPr>
          <p:nvPr>
            <p:ph idx="1"/>
          </p:nvPr>
        </p:nvSpPr>
        <p:spPr>
          <a:xfrm>
            <a:off x="640080" y="2872899"/>
            <a:ext cx="4243589" cy="3320668"/>
          </a:xfrm>
        </p:spPr>
        <p:txBody>
          <a:bodyPr>
            <a:normAutofit fontScale="85000" lnSpcReduction="20000"/>
          </a:bodyPr>
          <a:lstStyle/>
          <a:p>
            <a:r>
              <a:rPr lang="en-US" sz="2000" b="1" dirty="0"/>
              <a:t>Research Question:</a:t>
            </a:r>
            <a:r>
              <a:rPr lang="en-US" sz="2000" dirty="0"/>
              <a:t> How do maternal mortality rates differ among Black, White, and Asian women from 2010 to 2022?</a:t>
            </a:r>
          </a:p>
          <a:p>
            <a:r>
              <a:rPr lang="en-US" sz="2000" b="1" dirty="0"/>
              <a:t>Why This Topic:</a:t>
            </a:r>
            <a:r>
              <a:rPr lang="en-US" sz="2000" dirty="0"/>
              <a:t> Black women are </a:t>
            </a:r>
            <a:r>
              <a:rPr lang="en-US" sz="2000" b="1" dirty="0"/>
              <a:t>3–4×</a:t>
            </a:r>
            <a:r>
              <a:rPr lang="en-US" sz="2000" dirty="0"/>
              <a:t> more likely to die from pregnancy-related causes.</a:t>
            </a:r>
          </a:p>
          <a:p>
            <a:r>
              <a:rPr lang="en-US" sz="2000" b="1" dirty="0"/>
              <a:t>Causes:</a:t>
            </a:r>
            <a:r>
              <a:rPr lang="en-US" sz="2000" dirty="0"/>
              <a:t> Healthcare bias, limited access, and systemic inequality.</a:t>
            </a:r>
          </a:p>
          <a:p>
            <a:r>
              <a:rPr lang="en-US" sz="2000" b="1" dirty="0"/>
              <a:t>Goal:</a:t>
            </a:r>
            <a:r>
              <a:rPr lang="en-US" sz="2000" dirty="0"/>
              <a:t> Use data analysis to confirm disparities and visualize long-term trends.</a:t>
            </a:r>
          </a:p>
          <a:p>
            <a:r>
              <a:rPr lang="en-US" sz="2000" b="1" dirty="0"/>
              <a:t>Objective:</a:t>
            </a:r>
            <a:r>
              <a:rPr lang="en-US" sz="2000" dirty="0"/>
              <a:t> Highlight the issue and provide data-driven recommendations for change</a:t>
            </a:r>
          </a:p>
        </p:txBody>
      </p:sp>
      <p:pic>
        <p:nvPicPr>
          <p:cNvPr id="2050" name="Picture 2" descr="No photo description available.">
            <a:extLst>
              <a:ext uri="{FF2B5EF4-FFF2-40B4-BE49-F238E27FC236}">
                <a16:creationId xmlns:a16="http://schemas.microsoft.com/office/drawing/2014/main" id="{0E927EC5-5915-0E35-8D31-F2C1213E5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03"/>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562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A0F610-5FEA-5EC0-F870-AC08D8C67653}"/>
              </a:ext>
            </a:extLst>
          </p:cNvPr>
          <p:cNvSpPr>
            <a:spLocks noGrp="1"/>
          </p:cNvSpPr>
          <p:nvPr>
            <p:ph type="title"/>
          </p:nvPr>
        </p:nvSpPr>
        <p:spPr>
          <a:xfrm>
            <a:off x="6803409" y="762001"/>
            <a:ext cx="4156512" cy="1708244"/>
          </a:xfrm>
        </p:spPr>
        <p:txBody>
          <a:bodyPr anchor="ctr">
            <a:normAutofit/>
          </a:bodyPr>
          <a:lstStyle/>
          <a:p>
            <a:r>
              <a:rPr lang="en-US" sz="4000"/>
              <a:t>Organization Fit</a:t>
            </a:r>
          </a:p>
        </p:txBody>
      </p:sp>
      <p:pic>
        <p:nvPicPr>
          <p:cNvPr id="5" name="Picture 4" descr="Drawings on colorful paper">
            <a:extLst>
              <a:ext uri="{FF2B5EF4-FFF2-40B4-BE49-F238E27FC236}">
                <a16:creationId xmlns:a16="http://schemas.microsoft.com/office/drawing/2014/main" id="{746B6536-B00C-9ACD-53CD-72D026A366F4}"/>
              </a:ext>
            </a:extLst>
          </p:cNvPr>
          <p:cNvPicPr>
            <a:picLocks noChangeAspect="1"/>
          </p:cNvPicPr>
          <p:nvPr/>
        </p:nvPicPr>
        <p:blipFill>
          <a:blip r:embed="rId3"/>
          <a:srcRect l="10205" r="30461" b="-2"/>
          <a:stretch>
            <a:fillRect/>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6FD76BB9-C5FA-1271-6031-B919972958FF}"/>
              </a:ext>
            </a:extLst>
          </p:cNvPr>
          <p:cNvSpPr>
            <a:spLocks noGrp="1"/>
          </p:cNvSpPr>
          <p:nvPr>
            <p:ph idx="1"/>
          </p:nvPr>
        </p:nvSpPr>
        <p:spPr>
          <a:xfrm>
            <a:off x="6803409" y="2470245"/>
            <a:ext cx="4156512" cy="3769835"/>
          </a:xfrm>
        </p:spPr>
        <p:txBody>
          <a:bodyPr anchor="ctr">
            <a:normAutofit/>
          </a:bodyPr>
          <a:lstStyle/>
          <a:p>
            <a:r>
              <a:rPr lang="en-US" sz="2000" b="1" dirty="0"/>
              <a:t>Organization:</a:t>
            </a:r>
            <a:r>
              <a:rPr lang="en-US" sz="2000" dirty="0"/>
              <a:t> Black Mamas Matter Alliance</a:t>
            </a:r>
            <a:br>
              <a:rPr lang="en-US" sz="2000" dirty="0"/>
            </a:br>
            <a:r>
              <a:rPr lang="en-US" sz="2000" b="1" dirty="0"/>
              <a:t>Mission:</a:t>
            </a:r>
            <a:r>
              <a:rPr lang="en-US" sz="2000" dirty="0"/>
              <a:t> Promote Black maternal health, rights, and justice.</a:t>
            </a:r>
            <a:br>
              <a:rPr lang="en-US" sz="2000" dirty="0"/>
            </a:br>
            <a:r>
              <a:rPr lang="en-US" sz="2000" b="1" dirty="0"/>
              <a:t>How It Connects:</a:t>
            </a:r>
            <a:endParaRPr lang="en-US" sz="2000" dirty="0"/>
          </a:p>
          <a:p>
            <a:r>
              <a:rPr lang="en-US" sz="2000" dirty="0"/>
              <a:t>My analysis provides data visuals to support awareness and advocacy.</a:t>
            </a:r>
          </a:p>
          <a:p>
            <a:r>
              <a:rPr lang="en-US" sz="2000" dirty="0"/>
              <a:t>Results can help shape future policy and resource decisions.</a:t>
            </a:r>
          </a:p>
        </p:txBody>
      </p:sp>
    </p:spTree>
    <p:extLst>
      <p:ext uri="{BB962C8B-B14F-4D97-AF65-F5344CB8AC3E}">
        <p14:creationId xmlns:p14="http://schemas.microsoft.com/office/powerpoint/2010/main" val="128108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F5FBA2-32E6-4C0B-DB79-72CEA8C0E745}"/>
              </a:ext>
            </a:extLst>
          </p:cNvPr>
          <p:cNvSpPr>
            <a:spLocks noGrp="1"/>
          </p:cNvSpPr>
          <p:nvPr>
            <p:ph type="title"/>
          </p:nvPr>
        </p:nvSpPr>
        <p:spPr>
          <a:xfrm>
            <a:off x="640080" y="325369"/>
            <a:ext cx="4368602" cy="1956841"/>
          </a:xfrm>
        </p:spPr>
        <p:txBody>
          <a:bodyPr anchor="b">
            <a:normAutofit/>
          </a:bodyPr>
          <a:lstStyle/>
          <a:p>
            <a:r>
              <a:rPr lang="en-US" sz="5000"/>
              <a:t>Data Questions &amp; Prediction</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488121-696B-A725-99A9-DE35DA1D6504}"/>
              </a:ext>
            </a:extLst>
          </p:cNvPr>
          <p:cNvSpPr>
            <a:spLocks noGrp="1"/>
          </p:cNvSpPr>
          <p:nvPr>
            <p:ph idx="1"/>
          </p:nvPr>
        </p:nvSpPr>
        <p:spPr>
          <a:xfrm>
            <a:off x="640080" y="2872899"/>
            <a:ext cx="4243589" cy="3320668"/>
          </a:xfrm>
        </p:spPr>
        <p:txBody>
          <a:bodyPr>
            <a:normAutofit fontScale="92500"/>
          </a:bodyPr>
          <a:lstStyle/>
          <a:p>
            <a:r>
              <a:rPr lang="en-US" sz="1800" dirty="0"/>
              <a:t>How do maternal mortality rates differ among Black, White, and Asian women?</a:t>
            </a:r>
          </a:p>
          <a:p>
            <a:r>
              <a:rPr lang="en-US" sz="1800" dirty="0"/>
              <a:t>What are the trends over time (2010–2022)?</a:t>
            </a:r>
          </a:p>
          <a:p>
            <a:r>
              <a:rPr lang="en-US" sz="1800" dirty="0"/>
              <a:t>How consistent is the racial gap across years?</a:t>
            </a:r>
          </a:p>
          <a:p>
            <a:r>
              <a:rPr lang="en-US" sz="1800" dirty="0"/>
              <a:t>What does the distribution of rates tell us about inequality?</a:t>
            </a:r>
            <a:br>
              <a:rPr lang="en-US" sz="1800" dirty="0"/>
            </a:br>
            <a:r>
              <a:rPr lang="en-US" sz="1800" b="1" dirty="0"/>
              <a:t>Prediction Goal:</a:t>
            </a:r>
            <a:r>
              <a:rPr lang="en-US" sz="1800" dirty="0"/>
              <a:t> Use multi-year data to forecast which groups remain at highest risk and visualize the persistent gap.</a:t>
            </a:r>
          </a:p>
          <a:p>
            <a:endParaRPr lang="en-US" sz="1700" dirty="0"/>
          </a:p>
        </p:txBody>
      </p:sp>
      <p:pic>
        <p:nvPicPr>
          <p:cNvPr id="5" name="Picture 4" descr="Calculator, pen, compass, money and a paper with graphs printed on it">
            <a:extLst>
              <a:ext uri="{FF2B5EF4-FFF2-40B4-BE49-F238E27FC236}">
                <a16:creationId xmlns:a16="http://schemas.microsoft.com/office/drawing/2014/main" id="{463347F3-3EE3-1332-78AD-30EA93E81DE5}"/>
              </a:ext>
            </a:extLst>
          </p:cNvPr>
          <p:cNvPicPr>
            <a:picLocks noChangeAspect="1"/>
          </p:cNvPicPr>
          <p:nvPr/>
        </p:nvPicPr>
        <p:blipFill>
          <a:blip r:embed="rId2"/>
          <a:srcRect l="21895" r="17672"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543496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6CC7E-5CB1-FEA1-9F75-97F03BFD600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Dataset</a:t>
            </a:r>
            <a:endParaRPr lang="en-US" sz="3600" kern="1200" dirty="0">
              <a:solidFill>
                <a:srgbClr val="FFFFFF"/>
              </a:solidFill>
              <a:latin typeface="+mj-lt"/>
              <a:ea typeface="+mj-ea"/>
              <a:cs typeface="+mj-cs"/>
            </a:endParaRPr>
          </a:p>
        </p:txBody>
      </p:sp>
      <p:pic>
        <p:nvPicPr>
          <p:cNvPr id="12" name="Content Placeholder 11" descr="A table of numbers and text&#10;&#10;AI-generated content may be incorrect.">
            <a:extLst>
              <a:ext uri="{FF2B5EF4-FFF2-40B4-BE49-F238E27FC236}">
                <a16:creationId xmlns:a16="http://schemas.microsoft.com/office/drawing/2014/main" id="{0A1812A2-2FFD-A9C7-A5BE-841B1B6294DF}"/>
              </a:ext>
            </a:extLst>
          </p:cNvPr>
          <p:cNvPicPr>
            <a:picLocks noGrp="1" noChangeAspect="1"/>
          </p:cNvPicPr>
          <p:nvPr>
            <p:ph idx="1"/>
          </p:nvPr>
        </p:nvPicPr>
        <p:blipFill>
          <a:blip r:embed="rId2"/>
          <a:stretch>
            <a:fillRect/>
          </a:stretch>
        </p:blipFill>
        <p:spPr>
          <a:xfrm>
            <a:off x="5884483" y="643466"/>
            <a:ext cx="4566365" cy="5568739"/>
          </a:xfrm>
          <a:prstGeom prst="rect">
            <a:avLst/>
          </a:prstGeom>
        </p:spPr>
      </p:pic>
    </p:spTree>
    <p:extLst>
      <p:ext uri="{BB962C8B-B14F-4D97-AF65-F5344CB8AC3E}">
        <p14:creationId xmlns:p14="http://schemas.microsoft.com/office/powerpoint/2010/main" val="3235731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B1423C-4A67-7B8D-3FE9-66A249A3583A}"/>
              </a:ext>
            </a:extLst>
          </p:cNvPr>
          <p:cNvSpPr>
            <a:spLocks noGrp="1"/>
          </p:cNvSpPr>
          <p:nvPr>
            <p:ph type="title"/>
          </p:nvPr>
        </p:nvSpPr>
        <p:spPr>
          <a:xfrm>
            <a:off x="686834" y="1153572"/>
            <a:ext cx="3200400" cy="4461163"/>
          </a:xfrm>
        </p:spPr>
        <p:txBody>
          <a:bodyPr>
            <a:normAutofit/>
          </a:bodyPr>
          <a:lstStyle/>
          <a:p>
            <a:r>
              <a:rPr lang="en-US">
                <a:solidFill>
                  <a:srgbClr val="FFFFFF"/>
                </a:solidFill>
              </a:rPr>
              <a:t>Ingestion Overview</a:t>
            </a: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 name="Content Placeholder 2">
            <a:extLst>
              <a:ext uri="{FF2B5EF4-FFF2-40B4-BE49-F238E27FC236}">
                <a16:creationId xmlns:a16="http://schemas.microsoft.com/office/drawing/2014/main" id="{E6FEFE8D-80A2-53C6-5249-601FCFF8DFEF}"/>
              </a:ext>
            </a:extLst>
          </p:cNvPr>
          <p:cNvSpPr>
            <a:spLocks noGrp="1"/>
          </p:cNvSpPr>
          <p:nvPr>
            <p:ph idx="1"/>
          </p:nvPr>
        </p:nvSpPr>
        <p:spPr>
          <a:xfrm>
            <a:off x="4447308" y="591344"/>
            <a:ext cx="6906491" cy="5585619"/>
          </a:xfrm>
        </p:spPr>
        <p:txBody>
          <a:bodyPr anchor="ctr">
            <a:normAutofit/>
          </a:bodyPr>
          <a:lstStyle/>
          <a:p>
            <a:r>
              <a:rPr lang="en-US" sz="2400" b="1" dirty="0"/>
              <a:t>Source:</a:t>
            </a:r>
            <a:r>
              <a:rPr lang="en-US" sz="2400" dirty="0"/>
              <a:t> Dataset modeled from CDC data (2010–2022).</a:t>
            </a:r>
          </a:p>
          <a:p>
            <a:r>
              <a:rPr lang="en-US" sz="2400" b="1" dirty="0"/>
              <a:t>Size:</a:t>
            </a:r>
            <a:r>
              <a:rPr lang="en-US" sz="2400" dirty="0"/>
              <a:t> 10,000 rows × 6 columns.</a:t>
            </a:r>
          </a:p>
          <a:p>
            <a:r>
              <a:rPr lang="en-US" sz="2400" b="1" dirty="0"/>
              <a:t>Variables:</a:t>
            </a:r>
            <a:r>
              <a:rPr lang="en-US" sz="2400" dirty="0"/>
              <a:t> race, year, </a:t>
            </a:r>
            <a:r>
              <a:rPr lang="en-US" sz="2400" dirty="0" err="1"/>
              <a:t>live_births</a:t>
            </a:r>
            <a:r>
              <a:rPr lang="en-US" sz="2400" dirty="0"/>
              <a:t>, </a:t>
            </a:r>
            <a:r>
              <a:rPr lang="en-US" sz="2400" dirty="0" err="1"/>
              <a:t>maternal_deaths</a:t>
            </a:r>
            <a:r>
              <a:rPr lang="en-US" sz="2400" dirty="0"/>
              <a:t>, rate_per_100k, observed_rate_per_100k.</a:t>
            </a:r>
          </a:p>
          <a:p>
            <a:r>
              <a:rPr lang="en-US" sz="2400" b="1" dirty="0"/>
              <a:t>Unit of Analysis:</a:t>
            </a:r>
            <a:r>
              <a:rPr lang="en-US" sz="2400" dirty="0"/>
              <a:t> One race-year record.</a:t>
            </a:r>
          </a:p>
          <a:p>
            <a:r>
              <a:rPr lang="en-US" sz="2400" b="1" dirty="0"/>
              <a:t>Subset Used:</a:t>
            </a:r>
            <a:r>
              <a:rPr lang="en-US" sz="2400" dirty="0"/>
              <a:t> Black, White, and Asian women only.</a:t>
            </a:r>
          </a:p>
        </p:txBody>
      </p:sp>
    </p:spTree>
    <p:extLst>
      <p:ext uri="{BB962C8B-B14F-4D97-AF65-F5344CB8AC3E}">
        <p14:creationId xmlns:p14="http://schemas.microsoft.com/office/powerpoint/2010/main" val="57374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425FBB-9D7A-004E-7295-2D95868E9855}"/>
              </a:ext>
            </a:extLst>
          </p:cNvPr>
          <p:cNvSpPr>
            <a:spLocks noGrp="1"/>
          </p:cNvSpPr>
          <p:nvPr>
            <p:ph type="title"/>
          </p:nvPr>
        </p:nvSpPr>
        <p:spPr>
          <a:xfrm>
            <a:off x="956826" y="1112969"/>
            <a:ext cx="3937298" cy="4166010"/>
          </a:xfrm>
        </p:spPr>
        <p:txBody>
          <a:bodyPr>
            <a:normAutofit/>
          </a:bodyPr>
          <a:lstStyle/>
          <a:p>
            <a:r>
              <a:rPr lang="en-US">
                <a:solidFill>
                  <a:srgbClr val="FFFFFF"/>
                </a:solidFill>
              </a:rPr>
              <a:t>Wrangling</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34A61A5-040B-2BCA-AC6F-56A42B1E9F41}"/>
              </a:ext>
            </a:extLst>
          </p:cNvPr>
          <p:cNvSpPr>
            <a:spLocks noGrp="1"/>
          </p:cNvSpPr>
          <p:nvPr>
            <p:ph idx="1"/>
          </p:nvPr>
        </p:nvSpPr>
        <p:spPr>
          <a:xfrm>
            <a:off x="6096000" y="820880"/>
            <a:ext cx="5257799" cy="4889350"/>
          </a:xfrm>
        </p:spPr>
        <p:txBody>
          <a:bodyPr anchor="t">
            <a:normAutofit/>
          </a:bodyPr>
          <a:lstStyle/>
          <a:p>
            <a:r>
              <a:rPr lang="en-US" sz="2400" dirty="0"/>
              <a:t>Removed Hispanic category to focus comparison.</a:t>
            </a:r>
          </a:p>
          <a:p>
            <a:r>
              <a:rPr lang="en-US" sz="2400" dirty="0"/>
              <a:t>Converted numeric values and dropped missing data.</a:t>
            </a:r>
          </a:p>
          <a:p>
            <a:r>
              <a:rPr lang="en-US" sz="2400" dirty="0"/>
              <a:t>Added calculated column for observed_rate_per_100k.</a:t>
            </a:r>
          </a:p>
          <a:p>
            <a:r>
              <a:rPr lang="en-US" sz="2400" dirty="0"/>
              <a:t>Final dataset: 10,000 rows × 5 features.</a:t>
            </a:r>
          </a:p>
          <a:p>
            <a:endParaRPr lang="en-US" sz="2200"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937268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F0FAE728-C5A9-4B0F-B89E-F4BED8250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F938B951-7EFC-40A2-B198-E73D39DFB3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3" name="Rectangle 52">
              <a:extLst>
                <a:ext uri="{FF2B5EF4-FFF2-40B4-BE49-F238E27FC236}">
                  <a16:creationId xmlns:a16="http://schemas.microsoft.com/office/drawing/2014/main" id="{92E4506E-6A0E-49A0-BC31-8CADBFF3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EED4D51-65BF-4AEE-B596-7CB61A70B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graph of a number of deaths&#10;&#10;AI-generated content may be incorrect.">
            <a:extLst>
              <a:ext uri="{FF2B5EF4-FFF2-40B4-BE49-F238E27FC236}">
                <a16:creationId xmlns:a16="http://schemas.microsoft.com/office/drawing/2014/main" id="{82E674AA-5E51-0D7A-B20F-320C07D9149F}"/>
              </a:ext>
            </a:extLst>
          </p:cNvPr>
          <p:cNvPicPr>
            <a:picLocks noChangeAspect="1"/>
          </p:cNvPicPr>
          <p:nvPr/>
        </p:nvPicPr>
        <p:blipFill>
          <a:blip r:embed="rId3"/>
          <a:srcRect l="6197" r="-1" b="-1"/>
          <a:stretch>
            <a:fillRect/>
          </a:stretch>
        </p:blipFill>
        <p:spPr>
          <a:xfrm>
            <a:off x="372879" y="1342200"/>
            <a:ext cx="7053995" cy="4173600"/>
          </a:xfrm>
          <a:prstGeom prst="rect">
            <a:avLst/>
          </a:prstGeom>
          <a:effectLst>
            <a:outerShdw blurRad="508000" dist="101600" dir="5400000" algn="tl" rotWithShape="0">
              <a:prstClr val="black">
                <a:alpha val="10000"/>
              </a:prstClr>
            </a:outerShdw>
          </a:effectLst>
        </p:spPr>
      </p:pic>
      <p:pic>
        <p:nvPicPr>
          <p:cNvPr id="5" name="Content Placeholder 4" descr="A graph with a line and a blue line&#10;&#10;AI-generated content may be incorrect.">
            <a:extLst>
              <a:ext uri="{FF2B5EF4-FFF2-40B4-BE49-F238E27FC236}">
                <a16:creationId xmlns:a16="http://schemas.microsoft.com/office/drawing/2014/main" id="{E7924515-5B93-8CAD-A262-AFB5DFCD5434}"/>
              </a:ext>
            </a:extLst>
          </p:cNvPr>
          <p:cNvPicPr>
            <a:picLocks noGrp="1" noChangeAspect="1"/>
          </p:cNvPicPr>
          <p:nvPr>
            <p:ph idx="1"/>
          </p:nvPr>
        </p:nvPicPr>
        <p:blipFill>
          <a:blip r:embed="rId4"/>
          <a:srcRect r="-1" b="735"/>
          <a:stretch>
            <a:fillRect/>
          </a:stretch>
        </p:blipFill>
        <p:spPr>
          <a:xfrm>
            <a:off x="7943228" y="551620"/>
            <a:ext cx="3626695" cy="1998000"/>
          </a:xfrm>
          <a:prstGeom prst="rect">
            <a:avLst/>
          </a:prstGeom>
          <a:effectLst>
            <a:outerShdw blurRad="508000" dist="101600" dir="5400000" algn="tl" rotWithShape="0">
              <a:prstClr val="black">
                <a:alpha val="10000"/>
              </a:prstClr>
            </a:outerShdw>
          </a:effectLst>
        </p:spPr>
      </p:pic>
      <p:pic>
        <p:nvPicPr>
          <p:cNvPr id="11" name="Picture 10" descr="A graph of a number of people&#10;&#10;AI-generated content may be incorrect.">
            <a:extLst>
              <a:ext uri="{FF2B5EF4-FFF2-40B4-BE49-F238E27FC236}">
                <a16:creationId xmlns:a16="http://schemas.microsoft.com/office/drawing/2014/main" id="{60A9CC01-DDFA-709D-FF5D-CF07F5509972}"/>
              </a:ext>
            </a:extLst>
          </p:cNvPr>
          <p:cNvPicPr>
            <a:picLocks noChangeAspect="1"/>
          </p:cNvPicPr>
          <p:nvPr/>
        </p:nvPicPr>
        <p:blipFill>
          <a:blip r:embed="rId5"/>
          <a:stretch>
            <a:fillRect/>
          </a:stretch>
        </p:blipFill>
        <p:spPr>
          <a:xfrm>
            <a:off x="7610550" y="3831771"/>
            <a:ext cx="3959373" cy="2474609"/>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2384571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CF1149-6370-9B1B-D99E-63B7FDA7778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Code</a:t>
            </a:r>
          </a:p>
        </p:txBody>
      </p:sp>
      <p:pic>
        <p:nvPicPr>
          <p:cNvPr id="5" name="Content Placeholder 4" descr="A screenshot of a computer program&#10;&#10;AI-generated content may be incorrect.">
            <a:extLst>
              <a:ext uri="{FF2B5EF4-FFF2-40B4-BE49-F238E27FC236}">
                <a16:creationId xmlns:a16="http://schemas.microsoft.com/office/drawing/2014/main" id="{C099C5D2-5678-9589-F8C3-9198311D9BE6}"/>
              </a:ext>
            </a:extLst>
          </p:cNvPr>
          <p:cNvPicPr>
            <a:picLocks noGrp="1" noChangeAspect="1"/>
          </p:cNvPicPr>
          <p:nvPr>
            <p:ph idx="1"/>
          </p:nvPr>
        </p:nvPicPr>
        <p:blipFill>
          <a:blip r:embed="rId3"/>
          <a:stretch>
            <a:fillRect/>
          </a:stretch>
        </p:blipFill>
        <p:spPr>
          <a:xfrm>
            <a:off x="4777316" y="783363"/>
            <a:ext cx="6780700" cy="5288945"/>
          </a:xfrm>
          <a:prstGeom prst="rect">
            <a:avLst/>
          </a:prstGeom>
        </p:spPr>
      </p:pic>
    </p:spTree>
    <p:extLst>
      <p:ext uri="{BB962C8B-B14F-4D97-AF65-F5344CB8AC3E}">
        <p14:creationId xmlns:p14="http://schemas.microsoft.com/office/powerpoint/2010/main" val="3747523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E87A9A-BA39-CA1F-A4CC-BCA7EA885E34}"/>
              </a:ext>
            </a:extLst>
          </p:cNvPr>
          <p:cNvSpPr>
            <a:spLocks noGrp="1"/>
          </p:cNvSpPr>
          <p:nvPr>
            <p:ph type="title"/>
          </p:nvPr>
        </p:nvSpPr>
        <p:spPr>
          <a:xfrm>
            <a:off x="686834" y="1153572"/>
            <a:ext cx="3200400" cy="4461163"/>
          </a:xfrm>
        </p:spPr>
        <p:txBody>
          <a:bodyPr>
            <a:normAutofit/>
          </a:bodyPr>
          <a:lstStyle/>
          <a:p>
            <a:r>
              <a:rPr lang="en-US">
                <a:solidFill>
                  <a:srgbClr val="FFFFFF"/>
                </a:solidFill>
              </a:rPr>
              <a:t>Predictive Analytics (Model)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6D8FF18-72A6-F86E-A03A-8ED145369AB6}"/>
              </a:ext>
            </a:extLst>
          </p:cNvPr>
          <p:cNvSpPr>
            <a:spLocks noGrp="1"/>
          </p:cNvSpPr>
          <p:nvPr>
            <p:ph idx="1"/>
          </p:nvPr>
        </p:nvSpPr>
        <p:spPr>
          <a:xfrm>
            <a:off x="4447308" y="591344"/>
            <a:ext cx="6906491" cy="5585619"/>
          </a:xfrm>
        </p:spPr>
        <p:txBody>
          <a:bodyPr anchor="ctr">
            <a:normAutofit/>
          </a:bodyPr>
          <a:lstStyle/>
          <a:p>
            <a:r>
              <a:rPr lang="en-US" b="1" dirty="0"/>
              <a:t>Technique:</a:t>
            </a:r>
            <a:r>
              <a:rPr lang="en-US" dirty="0"/>
              <a:t> Logistic Regression</a:t>
            </a:r>
          </a:p>
          <a:p>
            <a:r>
              <a:rPr lang="en-US" b="1" dirty="0"/>
              <a:t>Goal:</a:t>
            </a:r>
            <a:r>
              <a:rPr lang="en-US" dirty="0"/>
              <a:t> Predict high-risk records (≥30 deaths per 100k)</a:t>
            </a:r>
          </a:p>
          <a:p>
            <a:r>
              <a:rPr lang="en-US" b="1" dirty="0"/>
              <a:t>Features:</a:t>
            </a:r>
            <a:r>
              <a:rPr lang="en-US" dirty="0"/>
              <a:t> race, year, </a:t>
            </a:r>
            <a:r>
              <a:rPr lang="en-US" dirty="0" err="1"/>
              <a:t>live_births</a:t>
            </a:r>
            <a:endParaRPr lang="en-US" dirty="0"/>
          </a:p>
          <a:p>
            <a:r>
              <a:rPr lang="en-US" b="1" dirty="0"/>
              <a:t>Target:</a:t>
            </a:r>
            <a:r>
              <a:rPr lang="en-US" dirty="0"/>
              <a:t> High risk (1 = yes, 0 = no)</a:t>
            </a:r>
          </a:p>
          <a:p>
            <a:r>
              <a:rPr lang="en-US" b="1" dirty="0"/>
              <a:t>Results:</a:t>
            </a:r>
            <a:r>
              <a:rPr lang="en-US" dirty="0"/>
              <a:t> Model identified Black group as high risk most often</a:t>
            </a:r>
          </a:p>
        </p:txBody>
      </p:sp>
    </p:spTree>
    <p:extLst>
      <p:ext uri="{BB962C8B-B14F-4D97-AF65-F5344CB8AC3E}">
        <p14:creationId xmlns:p14="http://schemas.microsoft.com/office/powerpoint/2010/main" val="2232796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B92EA-9337-1699-D5D2-614610B7D70D}"/>
              </a:ext>
            </a:extLst>
          </p:cNvPr>
          <p:cNvSpPr>
            <a:spLocks noGrp="1"/>
          </p:cNvSpPr>
          <p:nvPr>
            <p:ph type="title"/>
          </p:nvPr>
        </p:nvSpPr>
        <p:spPr>
          <a:xfrm>
            <a:off x="572493" y="238539"/>
            <a:ext cx="11018520" cy="1434415"/>
          </a:xfrm>
        </p:spPr>
        <p:txBody>
          <a:bodyPr anchor="b">
            <a:normAutofit/>
          </a:bodyPr>
          <a:lstStyle/>
          <a:p>
            <a:r>
              <a:rPr lang="en-US" sz="5400"/>
              <a:t>EDA Findings</a:t>
            </a:r>
          </a:p>
        </p:txBody>
      </p:sp>
      <p:sp>
        <p:nvSpPr>
          <p:cNvPr id="2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9367BC-09F8-CC54-94D3-D2D674F844DB}"/>
              </a:ext>
            </a:extLst>
          </p:cNvPr>
          <p:cNvSpPr>
            <a:spLocks noGrp="1"/>
          </p:cNvSpPr>
          <p:nvPr>
            <p:ph idx="1"/>
          </p:nvPr>
        </p:nvSpPr>
        <p:spPr>
          <a:xfrm>
            <a:off x="572493" y="2071316"/>
            <a:ext cx="6713552" cy="4119172"/>
          </a:xfrm>
        </p:spPr>
        <p:txBody>
          <a:bodyPr anchor="t">
            <a:normAutofit/>
          </a:bodyPr>
          <a:lstStyle/>
          <a:p>
            <a:r>
              <a:rPr lang="en-US" sz="2200"/>
              <a:t>Black women’s maternal mortality rate averages </a:t>
            </a:r>
            <a:r>
              <a:rPr lang="en-US" sz="2200" b="1"/>
              <a:t>3.7× higher</a:t>
            </a:r>
            <a:r>
              <a:rPr lang="en-US" sz="2200"/>
              <a:t> than Asian women and </a:t>
            </a:r>
            <a:r>
              <a:rPr lang="en-US" sz="2200" b="1"/>
              <a:t>3.1× higher</a:t>
            </a:r>
            <a:r>
              <a:rPr lang="en-US" sz="2200"/>
              <a:t> than White women.</a:t>
            </a:r>
          </a:p>
          <a:p>
            <a:r>
              <a:rPr lang="en-US" sz="2200"/>
              <a:t>The gap persisted across all years (2010–2022).</a:t>
            </a:r>
          </a:p>
          <a:p>
            <a:r>
              <a:rPr lang="en-US" sz="2200"/>
              <a:t>Rates peaked in 2021, then slightly decreased, but disparities remained.</a:t>
            </a:r>
          </a:p>
          <a:p>
            <a:r>
              <a:rPr lang="en-US" sz="2200"/>
              <a:t>The histogram and line charts show clear, consistent inequality.</a:t>
            </a:r>
          </a:p>
          <a:p>
            <a:endParaRPr lang="en-US" sz="2200"/>
          </a:p>
        </p:txBody>
      </p:sp>
      <p:pic>
        <p:nvPicPr>
          <p:cNvPr id="14" name="Picture 13" descr="Financial graphs on a dark display">
            <a:extLst>
              <a:ext uri="{FF2B5EF4-FFF2-40B4-BE49-F238E27FC236}">
                <a16:creationId xmlns:a16="http://schemas.microsoft.com/office/drawing/2014/main" id="{9ABD62E2-DB97-34A6-9498-C27D9311C33A}"/>
              </a:ext>
            </a:extLst>
          </p:cNvPr>
          <p:cNvPicPr>
            <a:picLocks noChangeAspect="1"/>
          </p:cNvPicPr>
          <p:nvPr/>
        </p:nvPicPr>
        <p:blipFill>
          <a:blip r:embed="rId2"/>
          <a:srcRect l="18501" r="2137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852746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 name="Rectangle 1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2C9B3-BC04-4CAF-CCCF-73F07BACCFFA}"/>
              </a:ext>
            </a:extLst>
          </p:cNvPr>
          <p:cNvSpPr>
            <a:spLocks noGrp="1"/>
          </p:cNvSpPr>
          <p:nvPr>
            <p:ph type="title"/>
          </p:nvPr>
        </p:nvSpPr>
        <p:spPr>
          <a:xfrm>
            <a:off x="761803" y="350196"/>
            <a:ext cx="4646904" cy="1624520"/>
          </a:xfrm>
        </p:spPr>
        <p:txBody>
          <a:bodyPr anchor="ctr">
            <a:normAutofit/>
          </a:bodyPr>
          <a:lstStyle/>
          <a:p>
            <a:r>
              <a:rPr lang="en-US" sz="4000"/>
              <a:t>Data Insights </a:t>
            </a:r>
          </a:p>
        </p:txBody>
      </p:sp>
      <p:sp>
        <p:nvSpPr>
          <p:cNvPr id="3" name="Content Placeholder 2">
            <a:extLst>
              <a:ext uri="{FF2B5EF4-FFF2-40B4-BE49-F238E27FC236}">
                <a16:creationId xmlns:a16="http://schemas.microsoft.com/office/drawing/2014/main" id="{1D8EE8C7-E2A2-97E5-3798-F361B2EDE07C}"/>
              </a:ext>
            </a:extLst>
          </p:cNvPr>
          <p:cNvSpPr>
            <a:spLocks noGrp="1"/>
          </p:cNvSpPr>
          <p:nvPr>
            <p:ph idx="1"/>
          </p:nvPr>
        </p:nvSpPr>
        <p:spPr>
          <a:xfrm>
            <a:off x="761802" y="2743200"/>
            <a:ext cx="4646905" cy="3613149"/>
          </a:xfrm>
        </p:spPr>
        <p:txBody>
          <a:bodyPr anchor="ctr">
            <a:normAutofit/>
          </a:bodyPr>
          <a:lstStyle/>
          <a:p>
            <a:r>
              <a:rPr lang="en-US" sz="2000"/>
              <a:t>Average rate: </a:t>
            </a:r>
            <a:r>
              <a:rPr lang="en-US" sz="2000" b="1"/>
              <a:t>Black ≈ 55</a:t>
            </a:r>
            <a:r>
              <a:rPr lang="en-US" sz="2000"/>
              <a:t>, </a:t>
            </a:r>
            <a:r>
              <a:rPr lang="en-US" sz="2000" b="1"/>
              <a:t>White ≈ 15</a:t>
            </a:r>
            <a:r>
              <a:rPr lang="en-US" sz="2000"/>
              <a:t>, </a:t>
            </a:r>
            <a:r>
              <a:rPr lang="en-US" sz="2000" b="1"/>
              <a:t>Asian ≈ 10</a:t>
            </a:r>
            <a:endParaRPr lang="en-US" sz="2000"/>
          </a:p>
          <a:p>
            <a:r>
              <a:rPr lang="en-US" sz="2000" dirty="0"/>
              <a:t>The racial gap hasn’t narrowed from 2010–2022</a:t>
            </a:r>
          </a:p>
          <a:p>
            <a:r>
              <a:rPr lang="en-US" sz="2000" dirty="0"/>
              <a:t>2021 had the highest rates across all groups</a:t>
            </a:r>
          </a:p>
          <a:p>
            <a:r>
              <a:rPr lang="en-US" sz="2000" dirty="0"/>
              <a:t>Realistic Action: Expand support programs and improve healthcare bias training</a:t>
            </a:r>
          </a:p>
        </p:txBody>
      </p:sp>
      <p:pic>
        <p:nvPicPr>
          <p:cNvPr id="14" name="Picture 13" descr="Graph">
            <a:extLst>
              <a:ext uri="{FF2B5EF4-FFF2-40B4-BE49-F238E27FC236}">
                <a16:creationId xmlns:a16="http://schemas.microsoft.com/office/drawing/2014/main" id="{3331E9B1-39E7-1BF7-FBC2-5BD36543668A}"/>
              </a:ext>
            </a:extLst>
          </p:cNvPr>
          <p:cNvPicPr>
            <a:picLocks noChangeAspect="1"/>
          </p:cNvPicPr>
          <p:nvPr/>
        </p:nvPicPr>
        <p:blipFill>
          <a:blip r:embed="rId3"/>
          <a:srcRect l="16558" r="27824"/>
          <a:stretch>
            <a:fillRect/>
          </a:stretch>
        </p:blipFill>
        <p:spPr>
          <a:xfrm>
            <a:off x="6096000" y="1"/>
            <a:ext cx="6102825" cy="6858000"/>
          </a:xfrm>
          <a:prstGeom prst="rect">
            <a:avLst/>
          </a:prstGeom>
        </p:spPr>
      </p:pic>
    </p:spTree>
    <p:extLst>
      <p:ext uri="{BB962C8B-B14F-4D97-AF65-F5344CB8AC3E}">
        <p14:creationId xmlns:p14="http://schemas.microsoft.com/office/powerpoint/2010/main" val="2330962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448FF-C529-0400-FE25-C57A4CF6035B}"/>
              </a:ext>
            </a:extLst>
          </p:cNvPr>
          <p:cNvSpPr>
            <a:spLocks noGrp="1"/>
          </p:cNvSpPr>
          <p:nvPr>
            <p:ph type="title"/>
          </p:nvPr>
        </p:nvSpPr>
        <p:spPr>
          <a:xfrm>
            <a:off x="6803409" y="762001"/>
            <a:ext cx="4156512" cy="1708244"/>
          </a:xfrm>
        </p:spPr>
        <p:txBody>
          <a:bodyPr anchor="ctr">
            <a:normAutofit/>
          </a:bodyPr>
          <a:lstStyle/>
          <a:p>
            <a:r>
              <a:rPr lang="en-US" sz="4000"/>
              <a:t>Proposed Data Product</a:t>
            </a:r>
          </a:p>
        </p:txBody>
      </p:sp>
      <p:pic>
        <p:nvPicPr>
          <p:cNvPr id="5" name="Picture 4" descr="Colorful carved figures of humans">
            <a:extLst>
              <a:ext uri="{FF2B5EF4-FFF2-40B4-BE49-F238E27FC236}">
                <a16:creationId xmlns:a16="http://schemas.microsoft.com/office/drawing/2014/main" id="{888F194B-C58B-6C47-B87A-674E1BCBDD93}"/>
              </a:ext>
            </a:extLst>
          </p:cNvPr>
          <p:cNvPicPr>
            <a:picLocks noChangeAspect="1"/>
          </p:cNvPicPr>
          <p:nvPr/>
        </p:nvPicPr>
        <p:blipFill>
          <a:blip r:embed="rId3"/>
          <a:srcRect l="18450" r="18217" b="-1"/>
          <a:stretch>
            <a:fillRect/>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02DCE191-D3B5-CB3E-09DE-CFCE283453E7}"/>
              </a:ext>
            </a:extLst>
          </p:cNvPr>
          <p:cNvSpPr>
            <a:spLocks noGrp="1"/>
          </p:cNvSpPr>
          <p:nvPr>
            <p:ph idx="1"/>
          </p:nvPr>
        </p:nvSpPr>
        <p:spPr>
          <a:xfrm>
            <a:off x="6803409" y="2470245"/>
            <a:ext cx="4156512" cy="3769835"/>
          </a:xfrm>
        </p:spPr>
        <p:txBody>
          <a:bodyPr anchor="ctr">
            <a:normAutofit/>
          </a:bodyPr>
          <a:lstStyle/>
          <a:p>
            <a:pPr marL="0" indent="0">
              <a:buNone/>
            </a:pPr>
            <a:r>
              <a:rPr lang="en-US" sz="2000" b="1"/>
              <a:t>Blog or Awareness Campaign</a:t>
            </a:r>
          </a:p>
          <a:p>
            <a:pPr marL="0" indent="0">
              <a:buNone/>
            </a:pPr>
            <a:endParaRPr lang="en-US" sz="2000"/>
          </a:p>
          <a:p>
            <a:r>
              <a:rPr lang="en-US" sz="2000"/>
              <a:t>Blog or TikTok for awareness and family support donations</a:t>
            </a:r>
          </a:p>
          <a:p>
            <a:r>
              <a:rPr lang="en-US" sz="2000" b="1"/>
              <a:t>Users:</a:t>
            </a:r>
            <a:r>
              <a:rPr lang="en-US" sz="2000"/>
              <a:t> Public health agencies, advocates, and communities</a:t>
            </a:r>
          </a:p>
          <a:p>
            <a:r>
              <a:rPr lang="en-US" sz="2000" b="1"/>
              <a:t>Value:</a:t>
            </a:r>
            <a:r>
              <a:rPr lang="en-US" sz="2000"/>
              <a:t> Easy access to insights that drive change</a:t>
            </a:r>
          </a:p>
          <a:p>
            <a:endParaRPr lang="en-US" sz="2000"/>
          </a:p>
        </p:txBody>
      </p:sp>
    </p:spTree>
    <p:extLst>
      <p:ext uri="{BB962C8B-B14F-4D97-AF65-F5344CB8AC3E}">
        <p14:creationId xmlns:p14="http://schemas.microsoft.com/office/powerpoint/2010/main" val="2381096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7D5678-4244-5751-748E-45D5F2AF8526}"/>
              </a:ext>
            </a:extLst>
          </p:cNvPr>
          <p:cNvSpPr>
            <a:spLocks noGrp="1"/>
          </p:cNvSpPr>
          <p:nvPr>
            <p:ph type="title"/>
          </p:nvPr>
        </p:nvSpPr>
        <p:spPr>
          <a:xfrm>
            <a:off x="686834" y="1153572"/>
            <a:ext cx="3200400" cy="4461163"/>
          </a:xfrm>
        </p:spPr>
        <p:txBody>
          <a:bodyPr>
            <a:normAutofit/>
          </a:bodyPr>
          <a:lstStyle/>
          <a:p>
            <a:r>
              <a:rPr lang="en-US">
                <a:solidFill>
                  <a:srgbClr val="FFFFFF"/>
                </a:solidFill>
              </a:rPr>
              <a:t>Challenges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FE8BFA4-CCD7-7E2A-AFD9-EC89BCA81A20}"/>
              </a:ext>
            </a:extLst>
          </p:cNvPr>
          <p:cNvSpPr>
            <a:spLocks noGrp="1"/>
          </p:cNvSpPr>
          <p:nvPr>
            <p:ph idx="1"/>
          </p:nvPr>
        </p:nvSpPr>
        <p:spPr>
          <a:xfrm>
            <a:off x="4447308" y="591344"/>
            <a:ext cx="6906491" cy="5585619"/>
          </a:xfrm>
        </p:spPr>
        <p:txBody>
          <a:bodyPr anchor="ctr">
            <a:normAutofit/>
          </a:bodyPr>
          <a:lstStyle/>
          <a:p>
            <a:r>
              <a:rPr lang="en-US" dirty="0"/>
              <a:t>Finding a usable dataset was difficult — had to switch multiple times</a:t>
            </a:r>
          </a:p>
          <a:p>
            <a:r>
              <a:rPr lang="en-US" dirty="0"/>
              <a:t>Next time, start with PyCharm for better organization</a:t>
            </a:r>
          </a:p>
          <a:p>
            <a:r>
              <a:rPr lang="en-US" dirty="0"/>
              <a:t>Spend more time learning and testing the data early</a:t>
            </a:r>
          </a:p>
          <a:p>
            <a:endParaRPr lang="en-US" dirty="0"/>
          </a:p>
        </p:txBody>
      </p:sp>
    </p:spTree>
    <p:extLst>
      <p:ext uri="{BB962C8B-B14F-4D97-AF65-F5344CB8AC3E}">
        <p14:creationId xmlns:p14="http://schemas.microsoft.com/office/powerpoint/2010/main" val="3167726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91C85-673C-FA8F-4052-9E845511B3E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References</a:t>
            </a:r>
          </a:p>
        </p:txBody>
      </p:sp>
      <p:sp>
        <p:nvSpPr>
          <p:cNvPr id="3" name="Content Placeholder 2">
            <a:extLst>
              <a:ext uri="{FF2B5EF4-FFF2-40B4-BE49-F238E27FC236}">
                <a16:creationId xmlns:a16="http://schemas.microsoft.com/office/drawing/2014/main" id="{1E3B73D7-5472-B06C-3EB6-AF5C559CD8F5}"/>
              </a:ext>
            </a:extLst>
          </p:cNvPr>
          <p:cNvSpPr>
            <a:spLocks noGrp="1"/>
          </p:cNvSpPr>
          <p:nvPr>
            <p:ph idx="1"/>
          </p:nvPr>
        </p:nvSpPr>
        <p:spPr>
          <a:xfrm>
            <a:off x="4810259" y="649480"/>
            <a:ext cx="6555347" cy="5546047"/>
          </a:xfrm>
        </p:spPr>
        <p:txBody>
          <a:bodyPr anchor="ctr">
            <a:normAutofit/>
          </a:bodyPr>
          <a:lstStyle/>
          <a:p>
            <a:r>
              <a:rPr lang="en-US" sz="2000" dirty="0"/>
              <a:t>Centers for Disease Control and Prevention (CDC). (2023). </a:t>
            </a:r>
            <a:r>
              <a:rPr lang="en-US" sz="2000" i="1" dirty="0"/>
              <a:t>Maternal mortality rates in the United States, 2018–2022</a:t>
            </a:r>
            <a:r>
              <a:rPr lang="en-US" sz="2000" dirty="0"/>
              <a:t>. National Center for Health Statistics. </a:t>
            </a:r>
            <a:r>
              <a:rPr lang="en-US" sz="2000" dirty="0">
                <a:hlinkClick r:id="rId2"/>
              </a:rPr>
              <a:t>https://www.cdc.gov/nchs</a:t>
            </a:r>
            <a:endParaRPr lang="en-US" sz="2000" dirty="0"/>
          </a:p>
          <a:p>
            <a:r>
              <a:rPr lang="en-US" sz="2000" dirty="0"/>
              <a:t>Kaiser Family Foundation (KFF). (2024). </a:t>
            </a:r>
            <a:r>
              <a:rPr lang="en-US" sz="2000" i="1" dirty="0"/>
              <a:t>Racial disparities in maternal and infant health outcomes</a:t>
            </a:r>
            <a:r>
              <a:rPr lang="en-US" sz="2000" dirty="0"/>
              <a:t>. https://</a:t>
            </a:r>
            <a:r>
              <a:rPr lang="en-US" sz="2000" dirty="0" err="1"/>
              <a:t>www.kff.org</a:t>
            </a:r>
            <a:endParaRPr lang="en-US" sz="2000" dirty="0"/>
          </a:p>
          <a:p>
            <a:r>
              <a:rPr lang="en-US" sz="2000" dirty="0"/>
              <a:t>World Health Organization (WHO). (2022). </a:t>
            </a:r>
            <a:r>
              <a:rPr lang="en-US" sz="2000" i="1" dirty="0"/>
              <a:t>Trends in maternal mortality: 2000–2020 estimates</a:t>
            </a:r>
            <a:r>
              <a:rPr lang="en-US" sz="2000" dirty="0"/>
              <a:t>. </a:t>
            </a:r>
            <a:r>
              <a:rPr lang="en-US" sz="2000" dirty="0">
                <a:hlinkClick r:id="rId3"/>
              </a:rPr>
              <a:t>https://www.who.int</a:t>
            </a:r>
            <a:endParaRPr lang="en-US" sz="2000" dirty="0"/>
          </a:p>
          <a:p>
            <a:r>
              <a:rPr lang="en-US" sz="2000" dirty="0"/>
              <a:t>Black Mamas Matter Alliance. (2023). </a:t>
            </a:r>
            <a:r>
              <a:rPr lang="en-US" sz="2000" i="1" dirty="0"/>
              <a:t>Advancing Black maternal health, rights, and justice</a:t>
            </a:r>
            <a:r>
              <a:rPr lang="en-US" sz="2000" dirty="0"/>
              <a:t>. https://</a:t>
            </a:r>
            <a:r>
              <a:rPr lang="en-US" sz="2000" dirty="0" err="1"/>
              <a:t>blackmamasmatter.org</a:t>
            </a:r>
            <a:endParaRPr lang="en-US" sz="2000" dirty="0"/>
          </a:p>
          <a:p>
            <a:r>
              <a:rPr lang="en-US" sz="2000" dirty="0"/>
              <a:t>U.S. National Vital Statistics System (NVSS). (2023). </a:t>
            </a:r>
            <a:r>
              <a:rPr lang="en-US" sz="2000" i="1" dirty="0"/>
              <a:t>Provisional maternal mortality data</a:t>
            </a:r>
            <a:r>
              <a:rPr lang="en-US" sz="2000" dirty="0"/>
              <a:t>. Centers for Disease Control and Prevention.</a:t>
            </a:r>
          </a:p>
          <a:p>
            <a:endParaRPr lang="en-US" sz="2000" dirty="0"/>
          </a:p>
        </p:txBody>
      </p:sp>
    </p:spTree>
    <p:extLst>
      <p:ext uri="{BB962C8B-B14F-4D97-AF65-F5344CB8AC3E}">
        <p14:creationId xmlns:p14="http://schemas.microsoft.com/office/powerpoint/2010/main" val="2320253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11735</TotalTime>
  <Words>990</Words>
  <Application>Microsoft Macintosh PowerPoint</Application>
  <PresentationFormat>Widescreen</PresentationFormat>
  <Paragraphs>85</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Healthcare Disparities in Maternal Mortality</vt:lpstr>
      <vt:lpstr>What is Mortality </vt:lpstr>
      <vt:lpstr>Problem</vt:lpstr>
      <vt:lpstr>Organization Fit</vt:lpstr>
      <vt:lpstr>Data Questions &amp; Prediction</vt:lpstr>
      <vt:lpstr>Dataset</vt:lpstr>
      <vt:lpstr>Ingestion Overview</vt:lpstr>
      <vt:lpstr>Wrangling</vt:lpstr>
      <vt:lpstr>PowerPoint Presentation</vt:lpstr>
      <vt:lpstr>Code</vt:lpstr>
      <vt:lpstr>Predictive Analytics (Model)</vt:lpstr>
      <vt:lpstr>EDA Findings</vt:lpstr>
      <vt:lpstr>Data Insights </vt:lpstr>
      <vt:lpstr>Proposed Data Product</vt:lpstr>
      <vt:lpstr>Challenges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Mamadu S Bah</dc:creator>
  <cp:lastModifiedBy>Mamadu S Bah</cp:lastModifiedBy>
  <cp:revision>7</cp:revision>
  <dcterms:created xsi:type="dcterms:W3CDTF">2025-09-04T02:51:01Z</dcterms:created>
  <dcterms:modified xsi:type="dcterms:W3CDTF">2025-10-09T00:17:17Z</dcterms:modified>
</cp:coreProperties>
</file>